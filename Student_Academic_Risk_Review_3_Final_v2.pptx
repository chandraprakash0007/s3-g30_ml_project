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03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784080" y="128016"/>
            <a:ext cx="2407615" cy="6437376"/>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55080"/>
            <a:ext cx="9784080" cy="210312"/>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987552"/>
            <a:ext cx="3657600" cy="475488"/>
          </a:xfrm>
          <a:prstGeom prst="rect">
            <a:avLst/>
          </a:prstGeom>
          <a:noFill/>
        </p:spPr>
        <p:txBody>
          <a:bodyPr wrap="square" anchor="t" lIns="18288" rIns="18288" tIns="18288" bIns="18288">
            <a:spAutoFit/>
          </a:bodyPr>
          <a:lstStyle/>
          <a:p>
            <a:pPr algn="l">
              <a:defRPr sz="1800" b="1">
                <a:solidFill>
                  <a:srgbClr val="E7EFF8"/>
                </a:solidFill>
                <a:latin typeface="Aptos"/>
              </a:defRPr>
            </a:pPr>
            <a:r>
              <a:t>PBL Review 3</a:t>
            </a:r>
          </a:p>
        </p:txBody>
      </p:sp>
      <p:sp>
        <p:nvSpPr>
          <p:cNvPr id="6" name="TextBox 5"/>
          <p:cNvSpPr txBox="1"/>
          <p:nvPr/>
        </p:nvSpPr>
        <p:spPr>
          <a:xfrm>
            <a:off x="685800" y="1508760"/>
            <a:ext cx="8138160" cy="1280160"/>
          </a:xfrm>
          <a:prstGeom prst="rect">
            <a:avLst/>
          </a:prstGeom>
          <a:noFill/>
        </p:spPr>
        <p:txBody>
          <a:bodyPr wrap="square" anchor="t" lIns="18288" rIns="18288" tIns="18288" bIns="18288">
            <a:spAutoFit/>
          </a:bodyPr>
          <a:lstStyle/>
          <a:p>
            <a:pPr algn="l">
              <a:defRPr sz="3500" b="1">
                <a:solidFill>
                  <a:srgbClr val="FFFFFF"/>
                </a:solidFill>
                <a:latin typeface="Aptos Display"/>
              </a:defRPr>
            </a:pPr>
            <a:r>
              <a:t>Student Academic Risk</a:t>
            </a:r>
            <a:br/>
            <a:r>
              <a:t>Prediction System</a:t>
            </a:r>
          </a:p>
        </p:txBody>
      </p:sp>
      <p:sp>
        <p:nvSpPr>
          <p:cNvPr id="7" name="TextBox 6"/>
          <p:cNvSpPr txBox="1"/>
          <p:nvPr/>
        </p:nvSpPr>
        <p:spPr>
          <a:xfrm>
            <a:off x="713232" y="2971800"/>
            <a:ext cx="7955279" cy="475488"/>
          </a:xfrm>
          <a:prstGeom prst="rect">
            <a:avLst/>
          </a:prstGeom>
          <a:noFill/>
        </p:spPr>
        <p:txBody>
          <a:bodyPr wrap="square" anchor="t" lIns="18288" rIns="18288" tIns="18288" bIns="18288">
            <a:spAutoFit/>
          </a:bodyPr>
          <a:lstStyle/>
          <a:p>
            <a:pPr algn="l">
              <a:defRPr sz="2000" b="1">
                <a:solidFill>
                  <a:srgbClr val="E7EFF8"/>
                </a:solidFill>
                <a:latin typeface="Aptos"/>
              </a:defRPr>
            </a:pPr>
            <a:r>
              <a:t>Binary Classification: At Risk — YES / NO</a:t>
            </a:r>
          </a:p>
        </p:txBody>
      </p:sp>
      <p:sp>
        <p:nvSpPr>
          <p:cNvPr id="8" name="TextBox 7"/>
          <p:cNvSpPr txBox="1"/>
          <p:nvPr/>
        </p:nvSpPr>
        <p:spPr>
          <a:xfrm>
            <a:off x="731520" y="3794760"/>
            <a:ext cx="8001000" cy="868680"/>
          </a:xfrm>
          <a:prstGeom prst="rect">
            <a:avLst/>
          </a:prstGeom>
          <a:noFill/>
        </p:spPr>
        <p:txBody>
          <a:bodyPr wrap="square" anchor="t" lIns="18288" rIns="18288" tIns="18288" bIns="18288">
            <a:spAutoFit/>
          </a:bodyPr>
          <a:lstStyle/>
          <a:p>
            <a:pPr algn="l">
              <a:defRPr sz="1600" b="0">
                <a:solidFill>
                  <a:srgbClr val="FFFFFF"/>
                </a:solidFill>
                <a:latin typeface="Aptos"/>
              </a:defRPr>
            </a:pPr>
            <a:r>
              <a:t>Case-based scenario • Practical EDA • Logistic Regression implementation • Evaluation</a:t>
            </a:r>
          </a:p>
        </p:txBody>
      </p:sp>
      <p:sp>
        <p:nvSpPr>
          <p:cNvPr id="9" name="TextBox 8"/>
          <p:cNvSpPr txBox="1"/>
          <p:nvPr/>
        </p:nvSpPr>
        <p:spPr>
          <a:xfrm>
            <a:off x="731520" y="5797296"/>
            <a:ext cx="4846320" cy="274320"/>
          </a:xfrm>
          <a:prstGeom prst="rect">
            <a:avLst/>
          </a:prstGeom>
          <a:noFill/>
        </p:spPr>
        <p:txBody>
          <a:bodyPr wrap="square" anchor="t" lIns="18288" rIns="18288" tIns="18288" bIns="18288">
            <a:spAutoFit/>
          </a:bodyPr>
          <a:lstStyle/>
          <a:p>
            <a:pPr algn="l">
              <a:defRPr sz="1200" b="1">
                <a:solidFill>
                  <a:srgbClr val="FFFFFF"/>
                </a:solidFill>
                <a:latin typeface="Aptos"/>
              </a:defRPr>
            </a:pPr>
            <a:r>
              <a:t>Prototype dataset: 1,000 synthetic student records</a:t>
            </a:r>
          </a:p>
        </p:txBody>
      </p:sp>
      <p:sp>
        <p:nvSpPr>
          <p:cNvPr id="10" name="TextBox 9"/>
          <p:cNvSpPr txBox="1"/>
          <p:nvPr/>
        </p:nvSpPr>
        <p:spPr>
          <a:xfrm>
            <a:off x="731520" y="4370832"/>
            <a:ext cx="2103120" cy="256032"/>
          </a:xfrm>
          <a:prstGeom prst="rect">
            <a:avLst/>
          </a:prstGeom>
          <a:noFill/>
        </p:spPr>
        <p:txBody>
          <a:bodyPr wrap="square" lIns="18288" rIns="18288" tIns="18288" bIns="18288">
            <a:spAutoFit/>
          </a:bodyPr>
          <a:lstStyle/>
          <a:p>
            <a:pPr algn="l">
              <a:defRPr sz="1200" b="1">
                <a:solidFill>
                  <a:srgbClr val="BECDDE"/>
                </a:solidFill>
                <a:latin typeface="Aptos"/>
              </a:defRPr>
            </a:pPr>
            <a:r>
              <a:t>TEAM MEMBERS</a:t>
            </a:r>
          </a:p>
        </p:txBody>
      </p:sp>
      <p:sp>
        <p:nvSpPr>
          <p:cNvPr id="11" name="Rounded Rectangle 10"/>
          <p:cNvSpPr/>
          <p:nvPr/>
        </p:nvSpPr>
        <p:spPr>
          <a:xfrm>
            <a:off x="713232" y="4617720"/>
            <a:ext cx="8092440" cy="960120"/>
          </a:xfrm>
          <a:prstGeom prst="roundRect">
            <a:avLst/>
          </a:prstGeom>
          <a:solidFill>
            <a:srgbClr val="172742"/>
          </a:solidFill>
          <a:ln>
            <a:solidFill>
              <a:srgbClr val="3D6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45736"/>
            <a:ext cx="2880360" cy="256032"/>
          </a:xfrm>
          <a:prstGeom prst="rect">
            <a:avLst/>
          </a:prstGeom>
          <a:noFill/>
        </p:spPr>
        <p:txBody>
          <a:bodyPr wrap="square" lIns="18288" rIns="18288" tIns="18288" bIns="18288">
            <a:spAutoFit/>
          </a:bodyPr>
          <a:lstStyle/>
          <a:p>
            <a:pPr algn="l">
              <a:defRPr sz="1320" b="1">
                <a:solidFill>
                  <a:srgbClr val="FFFFFF"/>
                </a:solidFill>
                <a:latin typeface="Aptos"/>
              </a:defRPr>
            </a:pPr>
            <a:r>
              <a:t>Chandra Prakash Verma</a:t>
            </a:r>
          </a:p>
        </p:txBody>
      </p:sp>
      <p:sp>
        <p:nvSpPr>
          <p:cNvPr id="13" name="TextBox 12"/>
          <p:cNvSpPr txBox="1"/>
          <p:nvPr/>
        </p:nvSpPr>
        <p:spPr>
          <a:xfrm>
            <a:off x="914400" y="5129784"/>
            <a:ext cx="2560320" cy="228600"/>
          </a:xfrm>
          <a:prstGeom prst="rect">
            <a:avLst/>
          </a:prstGeom>
          <a:noFill/>
        </p:spPr>
        <p:txBody>
          <a:bodyPr wrap="square" lIns="18288" rIns="18288" tIns="18288" bIns="18288">
            <a:spAutoFit/>
          </a:bodyPr>
          <a:lstStyle/>
          <a:p>
            <a:pPr algn="l">
              <a:defRPr sz="1140" b="0">
                <a:solidFill>
                  <a:srgbClr val="D6E1EF"/>
                </a:solidFill>
                <a:latin typeface="Aptos"/>
              </a:defRPr>
            </a:pPr>
            <a:r>
              <a:t>Roll No.: 2500031353</a:t>
            </a:r>
          </a:p>
        </p:txBody>
      </p:sp>
      <p:sp>
        <p:nvSpPr>
          <p:cNvPr id="14" name="TextBox 13"/>
          <p:cNvSpPr txBox="1"/>
          <p:nvPr/>
        </p:nvSpPr>
        <p:spPr>
          <a:xfrm>
            <a:off x="5166360" y="4745736"/>
            <a:ext cx="2468880" cy="256032"/>
          </a:xfrm>
          <a:prstGeom prst="rect">
            <a:avLst/>
          </a:prstGeom>
          <a:noFill/>
        </p:spPr>
        <p:txBody>
          <a:bodyPr wrap="square" lIns="18288" rIns="18288" tIns="18288" bIns="18288">
            <a:spAutoFit/>
          </a:bodyPr>
          <a:lstStyle/>
          <a:p>
            <a:pPr algn="l">
              <a:defRPr sz="1320" b="1">
                <a:solidFill>
                  <a:srgbClr val="FFFFFF"/>
                </a:solidFill>
                <a:latin typeface="Aptos"/>
              </a:defRPr>
            </a:pPr>
            <a:r>
              <a:t>Harshith Sirpuri</a:t>
            </a:r>
          </a:p>
        </p:txBody>
      </p:sp>
      <p:sp>
        <p:nvSpPr>
          <p:cNvPr id="15" name="TextBox 14"/>
          <p:cNvSpPr txBox="1"/>
          <p:nvPr/>
        </p:nvSpPr>
        <p:spPr>
          <a:xfrm>
            <a:off x="5166360" y="5129784"/>
            <a:ext cx="2560320" cy="228600"/>
          </a:xfrm>
          <a:prstGeom prst="rect">
            <a:avLst/>
          </a:prstGeom>
          <a:noFill/>
        </p:spPr>
        <p:txBody>
          <a:bodyPr wrap="square" lIns="18288" rIns="18288" tIns="18288" bIns="18288">
            <a:spAutoFit/>
          </a:bodyPr>
          <a:lstStyle/>
          <a:p>
            <a:pPr algn="l">
              <a:defRPr sz="1140" b="0">
                <a:solidFill>
                  <a:srgbClr val="D6E1EF"/>
                </a:solidFill>
                <a:latin typeface="Aptos"/>
              </a:defRPr>
            </a:pPr>
            <a:r>
              <a:t>Roll No.: 2520030572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1. Case-Based Scenario</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A practical situation where the proposed system can act as an early-warning support tool.</a:t>
            </a:r>
          </a:p>
        </p:txBody>
      </p:sp>
      <p:sp>
        <p:nvSpPr>
          <p:cNvPr id="5" name="Rounded Rectangle 4"/>
          <p:cNvSpPr/>
          <p:nvPr/>
        </p:nvSpPr>
        <p:spPr>
          <a:xfrm>
            <a:off x="640080" y="1234440"/>
            <a:ext cx="6903720" cy="434340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34440"/>
            <a:ext cx="64008" cy="4343400"/>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371600"/>
            <a:ext cx="658368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College scenario</a:t>
            </a:r>
          </a:p>
        </p:txBody>
      </p:sp>
      <p:sp>
        <p:nvSpPr>
          <p:cNvPr id="8" name="TextBox 7"/>
          <p:cNvSpPr txBox="1"/>
          <p:nvPr/>
        </p:nvSpPr>
        <p:spPr>
          <a:xfrm>
            <a:off x="822959" y="1801368"/>
            <a:ext cx="6583680" cy="3648456"/>
          </a:xfrm>
          <a:prstGeom prst="rect">
            <a:avLst/>
          </a:prstGeom>
          <a:noFill/>
        </p:spPr>
        <p:txBody>
          <a:bodyPr wrap="square" anchor="t" lIns="18288" rIns="18288" tIns="18288" bIns="18288">
            <a:spAutoFit/>
          </a:bodyPr>
          <a:lstStyle/>
          <a:p>
            <a:pPr algn="l">
              <a:defRPr sz="1500" b="0">
                <a:solidFill>
                  <a:srgbClr val="232A33"/>
                </a:solidFill>
                <a:latin typeface="Aptos"/>
              </a:defRPr>
            </a:pPr>
            <a:r>
              <a:t>A college wants to identify students who may be academically at risk before their performance deteriorates significantly. Faculty can review academic indicators such as attendance, previous grades, assignment performance, internal marks, participation and backlog subjects. The proposed model uses these indicators to predict whether a student falls into the At-Risk or Not-At-Risk category.</a:t>
            </a:r>
          </a:p>
        </p:txBody>
      </p:sp>
      <p:sp>
        <p:nvSpPr>
          <p:cNvPr id="9" name="Rounded Rectangle 8"/>
          <p:cNvSpPr/>
          <p:nvPr/>
        </p:nvSpPr>
        <p:spPr>
          <a:xfrm>
            <a:off x="7818120" y="1234440"/>
            <a:ext cx="3611880" cy="1325880"/>
          </a:xfrm>
          <a:prstGeom prst="roundRect">
            <a:avLst/>
          </a:prstGeom>
          <a:solidFill>
            <a:srgbClr val="E7EFF8"/>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18120" y="1234440"/>
            <a:ext cx="64008" cy="132588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371600"/>
            <a:ext cx="329184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Inputs</a:t>
            </a:r>
          </a:p>
        </p:txBody>
      </p:sp>
      <p:sp>
        <p:nvSpPr>
          <p:cNvPr id="12" name="TextBox 11"/>
          <p:cNvSpPr txBox="1"/>
          <p:nvPr/>
        </p:nvSpPr>
        <p:spPr>
          <a:xfrm>
            <a:off x="8001000" y="1801368"/>
            <a:ext cx="3291840" cy="630936"/>
          </a:xfrm>
          <a:prstGeom prst="rect">
            <a:avLst/>
          </a:prstGeom>
          <a:noFill/>
        </p:spPr>
        <p:txBody>
          <a:bodyPr wrap="square" anchor="t" lIns="18288" rIns="18288" tIns="18288" bIns="18288">
            <a:spAutoFit/>
          </a:bodyPr>
          <a:lstStyle/>
          <a:p>
            <a:pPr algn="l">
              <a:defRPr sz="1500" b="0">
                <a:solidFill>
                  <a:srgbClr val="232A33"/>
                </a:solidFill>
                <a:latin typeface="Aptos"/>
              </a:defRPr>
            </a:pPr>
            <a:r>
              <a:t>6 academic indicators</a:t>
            </a:r>
          </a:p>
        </p:txBody>
      </p:sp>
      <p:sp>
        <p:nvSpPr>
          <p:cNvPr id="13" name="Rounded Rectangle 12"/>
          <p:cNvSpPr/>
          <p:nvPr/>
        </p:nvSpPr>
        <p:spPr>
          <a:xfrm>
            <a:off x="7818120" y="2788920"/>
            <a:ext cx="3611880" cy="1325880"/>
          </a:xfrm>
          <a:prstGeom prst="roundRect">
            <a:avLst/>
          </a:prstGeom>
          <a:solidFill>
            <a:srgbClr val="F9EFE1"/>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18120" y="2788920"/>
            <a:ext cx="64008" cy="1325880"/>
          </a:xfrm>
          <a:prstGeom prst="rect">
            <a:avLst/>
          </a:prstGeom>
          <a:solidFill>
            <a:srgbClr val="D37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926079"/>
            <a:ext cx="329184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Output</a:t>
            </a:r>
          </a:p>
        </p:txBody>
      </p:sp>
      <p:sp>
        <p:nvSpPr>
          <p:cNvPr id="16" name="TextBox 15"/>
          <p:cNvSpPr txBox="1"/>
          <p:nvPr/>
        </p:nvSpPr>
        <p:spPr>
          <a:xfrm>
            <a:off x="8001000" y="3355848"/>
            <a:ext cx="3291840" cy="630936"/>
          </a:xfrm>
          <a:prstGeom prst="rect">
            <a:avLst/>
          </a:prstGeom>
          <a:noFill/>
        </p:spPr>
        <p:txBody>
          <a:bodyPr wrap="square" anchor="t" lIns="18288" rIns="18288" tIns="18288" bIns="18288">
            <a:spAutoFit/>
          </a:bodyPr>
          <a:lstStyle/>
          <a:p>
            <a:pPr algn="l">
              <a:defRPr sz="1500" b="0">
                <a:solidFill>
                  <a:srgbClr val="232A33"/>
                </a:solidFill>
                <a:latin typeface="Aptos"/>
              </a:defRPr>
            </a:pPr>
            <a:r>
              <a:t>At Risk = YES / NO</a:t>
            </a:r>
          </a:p>
        </p:txBody>
      </p:sp>
      <p:sp>
        <p:nvSpPr>
          <p:cNvPr id="17" name="Rounded Rectangle 16"/>
          <p:cNvSpPr/>
          <p:nvPr/>
        </p:nvSpPr>
        <p:spPr>
          <a:xfrm>
            <a:off x="7818120" y="4343400"/>
            <a:ext cx="3611880" cy="1234440"/>
          </a:xfrm>
          <a:prstGeom prst="roundRect">
            <a:avLst/>
          </a:prstGeom>
          <a:solidFill>
            <a:srgbClr val="F9EAEA"/>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18120" y="4343400"/>
            <a:ext cx="64008" cy="1234440"/>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4480560"/>
            <a:ext cx="329184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Purpose</a:t>
            </a:r>
          </a:p>
        </p:txBody>
      </p:sp>
      <p:sp>
        <p:nvSpPr>
          <p:cNvPr id="20" name="TextBox 19"/>
          <p:cNvSpPr txBox="1"/>
          <p:nvPr/>
        </p:nvSpPr>
        <p:spPr>
          <a:xfrm>
            <a:off x="8001000" y="4910328"/>
            <a:ext cx="3291840" cy="539496"/>
          </a:xfrm>
          <a:prstGeom prst="rect">
            <a:avLst/>
          </a:prstGeom>
          <a:noFill/>
        </p:spPr>
        <p:txBody>
          <a:bodyPr wrap="square" anchor="t" lIns="18288" rIns="18288" tIns="18288" bIns="18288">
            <a:spAutoFit/>
          </a:bodyPr>
          <a:lstStyle/>
          <a:p>
            <a:pPr algn="l">
              <a:defRPr sz="1450" b="0">
                <a:solidFill>
                  <a:srgbClr val="232A33"/>
                </a:solidFill>
                <a:latin typeface="Aptos"/>
              </a:defRPr>
            </a:pPr>
            <a:r>
              <a:t>Early-warning / decision support</a:t>
            </a:r>
          </a:p>
        </p:txBody>
      </p:sp>
      <p:sp>
        <p:nvSpPr>
          <p:cNvPr id="21" name="TextBox 20"/>
          <p:cNvSpPr txBox="1"/>
          <p:nvPr/>
        </p:nvSpPr>
        <p:spPr>
          <a:xfrm>
            <a:off x="685800" y="5870448"/>
            <a:ext cx="10744200" cy="384048"/>
          </a:xfrm>
          <a:prstGeom prst="rect">
            <a:avLst/>
          </a:prstGeom>
          <a:noFill/>
        </p:spPr>
        <p:txBody>
          <a:bodyPr wrap="square" anchor="t" lIns="18288" rIns="18288" tIns="18288" bIns="18288">
            <a:spAutoFit/>
          </a:bodyPr>
          <a:lstStyle/>
          <a:p>
            <a:pPr algn="ctr">
              <a:defRPr sz="1220" b="1">
                <a:solidFill>
                  <a:srgbClr val="132037"/>
                </a:solidFill>
                <a:latin typeface="Aptos"/>
              </a:defRPr>
            </a:pPr>
            <a:r>
              <a:t>Important: The prototype supports academic review; it does not predict a guaranteed future failure.</a:t>
            </a:r>
          </a:p>
        </p:txBody>
      </p:sp>
      <p:sp>
        <p:nvSpPr>
          <p:cNvPr id="22" name="Rectangle 21"/>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2. Problem Statement &amp; Objectives</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Translate the real-world scenario into a machine-learning problem.</a:t>
            </a:r>
          </a:p>
        </p:txBody>
      </p:sp>
      <p:sp>
        <p:nvSpPr>
          <p:cNvPr id="5" name="Rounded Rectangle 4"/>
          <p:cNvSpPr/>
          <p:nvPr/>
        </p:nvSpPr>
        <p:spPr>
          <a:xfrm>
            <a:off x="594360" y="1143000"/>
            <a:ext cx="5440680" cy="448056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43000"/>
            <a:ext cx="64008" cy="4480560"/>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280160"/>
            <a:ext cx="512064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Problem Statement</a:t>
            </a:r>
          </a:p>
        </p:txBody>
      </p:sp>
      <p:sp>
        <p:nvSpPr>
          <p:cNvPr id="8" name="TextBox 7"/>
          <p:cNvSpPr txBox="1"/>
          <p:nvPr/>
        </p:nvSpPr>
        <p:spPr>
          <a:xfrm>
            <a:off x="777240" y="1709928"/>
            <a:ext cx="5120640" cy="3785616"/>
          </a:xfrm>
          <a:prstGeom prst="rect">
            <a:avLst/>
          </a:prstGeom>
          <a:noFill/>
        </p:spPr>
        <p:txBody>
          <a:bodyPr wrap="square" anchor="t" lIns="18288" rIns="18288" tIns="18288" bIns="18288">
            <a:spAutoFit/>
          </a:bodyPr>
          <a:lstStyle/>
          <a:p>
            <a:pPr algn="l">
              <a:defRPr sz="1480" b="0">
                <a:solidFill>
                  <a:srgbClr val="232A33"/>
                </a:solidFill>
                <a:latin typeface="Aptos"/>
              </a:defRPr>
            </a:pPr>
            <a:r>
              <a:t>Build a binary classification prototype that predicts whether a student is academically at risk using six measurable academic indicators. The aim is to provide an early-warning signal that can help faculty consider timely academic support.</a:t>
            </a:r>
          </a:p>
        </p:txBody>
      </p:sp>
      <p:sp>
        <p:nvSpPr>
          <p:cNvPr id="9" name="Rounded Rectangle 8"/>
          <p:cNvSpPr/>
          <p:nvPr/>
        </p:nvSpPr>
        <p:spPr>
          <a:xfrm>
            <a:off x="6263640" y="1143000"/>
            <a:ext cx="5303520" cy="448056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143000"/>
            <a:ext cx="64008" cy="448056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280160"/>
            <a:ext cx="498348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Objectives</a:t>
            </a:r>
          </a:p>
        </p:txBody>
      </p:sp>
      <p:sp>
        <p:nvSpPr>
          <p:cNvPr id="12" name="TextBox 11"/>
          <p:cNvSpPr txBox="1"/>
          <p:nvPr/>
        </p:nvSpPr>
        <p:spPr>
          <a:xfrm>
            <a:off x="6446520" y="1709928"/>
            <a:ext cx="4983480" cy="3785616"/>
          </a:xfrm>
          <a:prstGeom prst="rect">
            <a:avLst/>
          </a:prstGeom>
          <a:noFill/>
        </p:spPr>
        <p:txBody>
          <a:bodyPr wrap="square" anchor="t" lIns="18288" rIns="18288" tIns="18288" bIns="18288">
            <a:spAutoFit/>
          </a:bodyPr>
          <a:lstStyle/>
          <a:p>
            <a:pPr algn="l">
              <a:defRPr sz="1420" b="0">
                <a:solidFill>
                  <a:srgbClr val="232A33"/>
                </a:solidFill>
                <a:latin typeface="Aptos"/>
              </a:defRPr>
            </a:pPr>
            <a:r>
              <a:t>1. Identify and inspect a student academic dataset.</a:t>
            </a:r>
            <a:br/>
            <a:r>
              <a:t>2. Perform EDA and data-quality checks.</a:t>
            </a:r>
            <a:br/>
            <a:r>
              <a:t>3. Preprocess numerical features using StandardScaler.</a:t>
            </a:r>
            <a:br/>
            <a:r>
              <a:t>4. Train a Logistic Regression classifier.</a:t>
            </a:r>
            <a:br/>
            <a:r>
              <a:t>5. Evaluate with Accuracy, Precision, Recall, F1-score and a Confusion Matrix.</a:t>
            </a:r>
            <a:br/>
            <a:r>
              <a:t>6. Demonstrate prediction on a new student record.</a:t>
            </a:r>
          </a:p>
        </p:txBody>
      </p:sp>
      <p:sp>
        <p:nvSpPr>
          <p:cNvPr id="13" name="Rectangle 12"/>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3. Dataset Identification</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Synthetic prototype dataset used to demonstrate the complete ML workflow.</a:t>
            </a:r>
          </a:p>
        </p:txBody>
      </p:sp>
      <p:sp>
        <p:nvSpPr>
          <p:cNvPr id="5" name="Rounded Rectangle 4"/>
          <p:cNvSpPr/>
          <p:nvPr/>
        </p:nvSpPr>
        <p:spPr>
          <a:xfrm>
            <a:off x="594360" y="1143000"/>
            <a:ext cx="228600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43000"/>
            <a:ext cx="2286000" cy="73152"/>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307592"/>
            <a:ext cx="2139696" cy="438912"/>
          </a:xfrm>
          <a:prstGeom prst="rect">
            <a:avLst/>
          </a:prstGeom>
          <a:noFill/>
        </p:spPr>
        <p:txBody>
          <a:bodyPr wrap="square" anchor="t" lIns="18288" rIns="18288" tIns="18288" bIns="18288">
            <a:spAutoFit/>
          </a:bodyPr>
          <a:lstStyle/>
          <a:p>
            <a:pPr algn="ctr">
              <a:defRPr sz="2500" b="1">
                <a:solidFill>
                  <a:srgbClr val="2B5C91"/>
                </a:solidFill>
                <a:latin typeface="Aptos"/>
              </a:defRPr>
            </a:pPr>
            <a:r>
              <a:t>1,000</a:t>
            </a:r>
          </a:p>
        </p:txBody>
      </p:sp>
      <p:sp>
        <p:nvSpPr>
          <p:cNvPr id="8" name="TextBox 7"/>
          <p:cNvSpPr txBox="1"/>
          <p:nvPr/>
        </p:nvSpPr>
        <p:spPr>
          <a:xfrm>
            <a:off x="667512" y="1783080"/>
            <a:ext cx="2139696" cy="256032"/>
          </a:xfrm>
          <a:prstGeom prst="rect">
            <a:avLst/>
          </a:prstGeom>
          <a:noFill/>
        </p:spPr>
        <p:txBody>
          <a:bodyPr wrap="square" anchor="t" lIns="18288" rIns="18288" tIns="18288" bIns="18288">
            <a:spAutoFit/>
          </a:bodyPr>
          <a:lstStyle/>
          <a:p>
            <a:pPr algn="ctr">
              <a:defRPr sz="1200" b="1">
                <a:solidFill>
                  <a:srgbClr val="132037"/>
                </a:solidFill>
                <a:latin typeface="Aptos"/>
              </a:defRPr>
            </a:pPr>
            <a:r>
              <a:t>Student records</a:t>
            </a:r>
          </a:p>
        </p:txBody>
      </p:sp>
      <p:sp>
        <p:nvSpPr>
          <p:cNvPr id="9" name="Rounded Rectangle 8"/>
          <p:cNvSpPr/>
          <p:nvPr/>
        </p:nvSpPr>
        <p:spPr>
          <a:xfrm>
            <a:off x="3063240" y="1143000"/>
            <a:ext cx="228600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63240" y="1143000"/>
            <a:ext cx="2286000" cy="73152"/>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36392" y="1307592"/>
            <a:ext cx="2139696" cy="438912"/>
          </a:xfrm>
          <a:prstGeom prst="rect">
            <a:avLst/>
          </a:prstGeom>
          <a:noFill/>
        </p:spPr>
        <p:txBody>
          <a:bodyPr wrap="square" anchor="t" lIns="18288" rIns="18288" tIns="18288" bIns="18288">
            <a:spAutoFit/>
          </a:bodyPr>
          <a:lstStyle/>
          <a:p>
            <a:pPr algn="ctr">
              <a:defRPr sz="2500" b="1">
                <a:solidFill>
                  <a:srgbClr val="268B91"/>
                </a:solidFill>
                <a:latin typeface="Aptos"/>
              </a:defRPr>
            </a:pPr>
            <a:r>
              <a:t>7</a:t>
            </a:r>
          </a:p>
        </p:txBody>
      </p:sp>
      <p:sp>
        <p:nvSpPr>
          <p:cNvPr id="12" name="TextBox 11"/>
          <p:cNvSpPr txBox="1"/>
          <p:nvPr/>
        </p:nvSpPr>
        <p:spPr>
          <a:xfrm>
            <a:off x="3136392" y="1783080"/>
            <a:ext cx="2139696" cy="256032"/>
          </a:xfrm>
          <a:prstGeom prst="rect">
            <a:avLst/>
          </a:prstGeom>
          <a:noFill/>
        </p:spPr>
        <p:txBody>
          <a:bodyPr wrap="square" anchor="t" lIns="18288" rIns="18288" tIns="18288" bIns="18288">
            <a:spAutoFit/>
          </a:bodyPr>
          <a:lstStyle/>
          <a:p>
            <a:pPr algn="ctr">
              <a:defRPr sz="1200" b="1">
                <a:solidFill>
                  <a:srgbClr val="132037"/>
                </a:solidFill>
                <a:latin typeface="Aptos"/>
              </a:defRPr>
            </a:pPr>
            <a:r>
              <a:t>Columns</a:t>
            </a:r>
          </a:p>
        </p:txBody>
      </p:sp>
      <p:sp>
        <p:nvSpPr>
          <p:cNvPr id="13" name="Rounded Rectangle 12"/>
          <p:cNvSpPr/>
          <p:nvPr/>
        </p:nvSpPr>
        <p:spPr>
          <a:xfrm>
            <a:off x="5532120" y="1143000"/>
            <a:ext cx="228600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32120" y="1143000"/>
            <a:ext cx="2286000" cy="73152"/>
          </a:xfrm>
          <a:prstGeom prst="rect">
            <a:avLst/>
          </a:prstGeom>
          <a:solidFill>
            <a:srgbClr val="D37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05272" y="1307592"/>
            <a:ext cx="2139696" cy="438912"/>
          </a:xfrm>
          <a:prstGeom prst="rect">
            <a:avLst/>
          </a:prstGeom>
          <a:noFill/>
        </p:spPr>
        <p:txBody>
          <a:bodyPr wrap="square" anchor="t" lIns="18288" rIns="18288" tIns="18288" bIns="18288">
            <a:spAutoFit/>
          </a:bodyPr>
          <a:lstStyle/>
          <a:p>
            <a:pPr algn="ctr">
              <a:defRPr sz="2500" b="1">
                <a:solidFill>
                  <a:srgbClr val="D37E2A"/>
                </a:solidFill>
                <a:latin typeface="Aptos"/>
              </a:defRPr>
            </a:pPr>
            <a:r>
              <a:t>6 + 1</a:t>
            </a:r>
          </a:p>
        </p:txBody>
      </p:sp>
      <p:sp>
        <p:nvSpPr>
          <p:cNvPr id="16" name="TextBox 15"/>
          <p:cNvSpPr txBox="1"/>
          <p:nvPr/>
        </p:nvSpPr>
        <p:spPr>
          <a:xfrm>
            <a:off x="5605272" y="1783080"/>
            <a:ext cx="2139696" cy="256032"/>
          </a:xfrm>
          <a:prstGeom prst="rect">
            <a:avLst/>
          </a:prstGeom>
          <a:noFill/>
        </p:spPr>
        <p:txBody>
          <a:bodyPr wrap="square" anchor="t" lIns="18288" rIns="18288" tIns="18288" bIns="18288">
            <a:spAutoFit/>
          </a:bodyPr>
          <a:lstStyle/>
          <a:p>
            <a:pPr algn="ctr">
              <a:defRPr sz="1200" b="1">
                <a:solidFill>
                  <a:srgbClr val="132037"/>
                </a:solidFill>
                <a:latin typeface="Aptos"/>
              </a:defRPr>
            </a:pPr>
            <a:r>
              <a:t>Features + target</a:t>
            </a:r>
          </a:p>
        </p:txBody>
      </p:sp>
      <p:sp>
        <p:nvSpPr>
          <p:cNvPr id="17" name="Rounded Rectangle 16"/>
          <p:cNvSpPr/>
          <p:nvPr/>
        </p:nvSpPr>
        <p:spPr>
          <a:xfrm>
            <a:off x="8001000" y="1143000"/>
            <a:ext cx="342900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1143000"/>
            <a:ext cx="3429000" cy="73152"/>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74152" y="1307592"/>
            <a:ext cx="3282696" cy="438912"/>
          </a:xfrm>
          <a:prstGeom prst="rect">
            <a:avLst/>
          </a:prstGeom>
          <a:noFill/>
        </p:spPr>
        <p:txBody>
          <a:bodyPr wrap="square" anchor="t" lIns="18288" rIns="18288" tIns="18288" bIns="18288">
            <a:spAutoFit/>
          </a:bodyPr>
          <a:lstStyle/>
          <a:p>
            <a:pPr algn="ctr">
              <a:defRPr sz="2500" b="1">
                <a:solidFill>
                  <a:srgbClr val="AE4343"/>
                </a:solidFill>
                <a:latin typeface="Aptos"/>
              </a:defRPr>
            </a:pPr>
            <a:r>
              <a:t>500 / 500</a:t>
            </a:r>
          </a:p>
        </p:txBody>
      </p:sp>
      <p:sp>
        <p:nvSpPr>
          <p:cNvPr id="20" name="TextBox 19"/>
          <p:cNvSpPr txBox="1"/>
          <p:nvPr/>
        </p:nvSpPr>
        <p:spPr>
          <a:xfrm>
            <a:off x="8074152" y="1783080"/>
            <a:ext cx="3282696" cy="256032"/>
          </a:xfrm>
          <a:prstGeom prst="rect">
            <a:avLst/>
          </a:prstGeom>
          <a:noFill/>
        </p:spPr>
        <p:txBody>
          <a:bodyPr wrap="square" anchor="t" lIns="18288" rIns="18288" tIns="18288" bIns="18288">
            <a:spAutoFit/>
          </a:bodyPr>
          <a:lstStyle/>
          <a:p>
            <a:pPr algn="ctr">
              <a:defRPr sz="1200" b="1">
                <a:solidFill>
                  <a:srgbClr val="132037"/>
                </a:solidFill>
                <a:latin typeface="Aptos"/>
              </a:defRPr>
            </a:pPr>
            <a:r>
              <a:t>No / Yes classes</a:t>
            </a:r>
          </a:p>
        </p:txBody>
      </p:sp>
      <p:graphicFrame>
        <p:nvGraphicFramePr>
          <p:cNvPr id="21" name="Table 20"/>
          <p:cNvGraphicFramePr>
            <a:graphicFrameLocks noGrp="1"/>
          </p:cNvGraphicFramePr>
          <p:nvPr/>
        </p:nvGraphicFramePr>
        <p:xfrm>
          <a:off x="594360" y="2697480"/>
          <a:ext cx="10972800" cy="2697480"/>
        </p:xfrm>
        <a:graphic>
          <a:graphicData uri="http://schemas.openxmlformats.org/drawingml/2006/table">
            <a:tbl>
              <a:tblPr firstRow="1" bandRow="1">
                <a:tableStyleId>{5C22544A-7EE6-4342-B048-85BDC9FD1C3A}</a:tableStyleId>
              </a:tblPr>
              <a:tblGrid>
                <a:gridCol w="3337560"/>
                <a:gridCol w="1828800"/>
                <a:gridCol w="5806440"/>
              </a:tblGrid>
              <a:tr h="385354">
                <a:tc>
                  <a:txBody>
                    <a:bodyPr/>
                    <a:lstStyle/>
                    <a:p>
                      <a:pPr algn="ctr">
                        <a:defRPr sz="1120" b="1">
                          <a:solidFill>
                            <a:srgbClr val="FFFFFF"/>
                          </a:solidFill>
                          <a:latin typeface="Aptos"/>
                        </a:defRPr>
                      </a:pPr>
                      <a:r>
                        <a:t>Column</a:t>
                      </a:r>
                    </a:p>
                  </a:txBody>
                  <a:tcPr>
                    <a:solidFill>
                      <a:srgbClr val="132037"/>
                    </a:solidFill>
                  </a:tcPr>
                </a:tc>
                <a:tc>
                  <a:txBody>
                    <a:bodyPr/>
                    <a:lstStyle/>
                    <a:p>
                      <a:pPr algn="ctr">
                        <a:defRPr sz="1120" b="1">
                          <a:solidFill>
                            <a:srgbClr val="FFFFFF"/>
                          </a:solidFill>
                          <a:latin typeface="Aptos"/>
                        </a:defRPr>
                      </a:pPr>
                      <a:r>
                        <a:t>Type</a:t>
                      </a:r>
                    </a:p>
                  </a:txBody>
                  <a:tcPr>
                    <a:solidFill>
                      <a:srgbClr val="132037"/>
                    </a:solidFill>
                  </a:tcPr>
                </a:tc>
                <a:tc>
                  <a:txBody>
                    <a:bodyPr/>
                    <a:lstStyle/>
                    <a:p>
                      <a:pPr algn="ctr">
                        <a:defRPr sz="1120" b="1">
                          <a:solidFill>
                            <a:srgbClr val="FFFFFF"/>
                          </a:solidFill>
                          <a:latin typeface="Aptos"/>
                        </a:defRPr>
                      </a:pPr>
                      <a:r>
                        <a:t>Role / Meaning</a:t>
                      </a:r>
                    </a:p>
                  </a:txBody>
                  <a:tcPr>
                    <a:solidFill>
                      <a:srgbClr val="132037"/>
                    </a:solidFill>
                  </a:tcPr>
                </a:tc>
              </a:tr>
              <a:tr h="385354">
                <a:tc>
                  <a:txBody>
                    <a:bodyPr/>
                    <a:lstStyle/>
                    <a:p>
                      <a:pPr algn="l">
                        <a:defRPr sz="1050">
                          <a:solidFill>
                            <a:srgbClr val="232A33"/>
                          </a:solidFill>
                          <a:latin typeface="Aptos"/>
                        </a:defRPr>
                      </a:pPr>
                      <a:r>
                        <a:t>Attendance_Percentage</a:t>
                      </a:r>
                    </a:p>
                  </a:txBody>
                  <a:tcPr>
                    <a:solidFill>
                      <a:srgbClr val="FFFFFF"/>
                    </a:solidFill>
                  </a:tcPr>
                </a:tc>
                <a:tc>
                  <a:txBody>
                    <a:bodyPr/>
                    <a:lstStyle/>
                    <a:p>
                      <a:pPr algn="ctr">
                        <a:defRPr sz="1050">
                          <a:solidFill>
                            <a:srgbClr val="232A33"/>
                          </a:solidFill>
                          <a:latin typeface="Aptos"/>
                        </a:defRPr>
                      </a:pPr>
                      <a:r>
                        <a:t>Numerical</a:t>
                      </a:r>
                    </a:p>
                  </a:txBody>
                  <a:tcPr>
                    <a:solidFill>
                      <a:srgbClr val="FFFFFF"/>
                    </a:solidFill>
                  </a:tcPr>
                </a:tc>
                <a:tc>
                  <a:txBody>
                    <a:bodyPr/>
                    <a:lstStyle/>
                    <a:p>
                      <a:pPr algn="l">
                        <a:defRPr sz="1050">
                          <a:solidFill>
                            <a:srgbClr val="232A33"/>
                          </a:solidFill>
                          <a:latin typeface="Aptos"/>
                        </a:defRPr>
                      </a:pPr>
                      <a:r>
                        <a:t>Attendance percentage</a:t>
                      </a:r>
                    </a:p>
                  </a:txBody>
                  <a:tcPr>
                    <a:solidFill>
                      <a:srgbClr val="FFFFFF"/>
                    </a:solidFill>
                  </a:tcPr>
                </a:tc>
              </a:tr>
              <a:tr h="385354">
                <a:tc>
                  <a:txBody>
                    <a:bodyPr/>
                    <a:lstStyle/>
                    <a:p>
                      <a:pPr algn="l">
                        <a:defRPr sz="1050">
                          <a:solidFill>
                            <a:srgbClr val="232A33"/>
                          </a:solidFill>
                          <a:latin typeface="Aptos"/>
                        </a:defRPr>
                      </a:pPr>
                      <a:r>
                        <a:t>Previous_Grades</a:t>
                      </a:r>
                    </a:p>
                  </a:txBody>
                  <a:tcPr>
                    <a:solidFill>
                      <a:srgbClr val="EFF3F8"/>
                    </a:solidFill>
                  </a:tcPr>
                </a:tc>
                <a:tc>
                  <a:txBody>
                    <a:bodyPr/>
                    <a:lstStyle/>
                    <a:p>
                      <a:pPr algn="ctr">
                        <a:defRPr sz="1050">
                          <a:solidFill>
                            <a:srgbClr val="232A33"/>
                          </a:solidFill>
                          <a:latin typeface="Aptos"/>
                        </a:defRPr>
                      </a:pPr>
                      <a:r>
                        <a:t>Numerical</a:t>
                      </a:r>
                    </a:p>
                  </a:txBody>
                  <a:tcPr>
                    <a:solidFill>
                      <a:srgbClr val="EFF3F8"/>
                    </a:solidFill>
                  </a:tcPr>
                </a:tc>
                <a:tc>
                  <a:txBody>
                    <a:bodyPr/>
                    <a:lstStyle/>
                    <a:p>
                      <a:pPr algn="l">
                        <a:defRPr sz="1050">
                          <a:solidFill>
                            <a:srgbClr val="232A33"/>
                          </a:solidFill>
                          <a:latin typeface="Aptos"/>
                        </a:defRPr>
                      </a:pPr>
                      <a:r>
                        <a:t>Previous academic performance</a:t>
                      </a:r>
                    </a:p>
                  </a:txBody>
                  <a:tcPr>
                    <a:solidFill>
                      <a:srgbClr val="EFF3F8"/>
                    </a:solidFill>
                  </a:tcPr>
                </a:tc>
              </a:tr>
              <a:tr h="385354">
                <a:tc>
                  <a:txBody>
                    <a:bodyPr/>
                    <a:lstStyle/>
                    <a:p>
                      <a:pPr algn="l">
                        <a:defRPr sz="1050">
                          <a:solidFill>
                            <a:srgbClr val="232A33"/>
                          </a:solidFill>
                          <a:latin typeface="Aptos"/>
                        </a:defRPr>
                      </a:pPr>
                      <a:r>
                        <a:t>Assignment_Performance</a:t>
                      </a:r>
                    </a:p>
                  </a:txBody>
                  <a:tcPr>
                    <a:solidFill>
                      <a:srgbClr val="FFFFFF"/>
                    </a:solidFill>
                  </a:tcPr>
                </a:tc>
                <a:tc>
                  <a:txBody>
                    <a:bodyPr/>
                    <a:lstStyle/>
                    <a:p>
                      <a:pPr algn="ctr">
                        <a:defRPr sz="1050">
                          <a:solidFill>
                            <a:srgbClr val="232A33"/>
                          </a:solidFill>
                          <a:latin typeface="Aptos"/>
                        </a:defRPr>
                      </a:pPr>
                      <a:r>
                        <a:t>Numerical</a:t>
                      </a:r>
                    </a:p>
                  </a:txBody>
                  <a:tcPr>
                    <a:solidFill>
                      <a:srgbClr val="FFFFFF"/>
                    </a:solidFill>
                  </a:tcPr>
                </a:tc>
                <a:tc>
                  <a:txBody>
                    <a:bodyPr/>
                    <a:lstStyle/>
                    <a:p>
                      <a:pPr algn="l">
                        <a:defRPr sz="1050">
                          <a:solidFill>
                            <a:srgbClr val="232A33"/>
                          </a:solidFill>
                          <a:latin typeface="Aptos"/>
                        </a:defRPr>
                      </a:pPr>
                      <a:r>
                        <a:t>Assignment performance</a:t>
                      </a:r>
                    </a:p>
                  </a:txBody>
                  <a:tcPr>
                    <a:solidFill>
                      <a:srgbClr val="FFFFFF"/>
                    </a:solidFill>
                  </a:tcPr>
                </a:tc>
              </a:tr>
              <a:tr h="385354">
                <a:tc>
                  <a:txBody>
                    <a:bodyPr/>
                    <a:lstStyle/>
                    <a:p>
                      <a:pPr algn="l">
                        <a:defRPr sz="1050">
                          <a:solidFill>
                            <a:srgbClr val="232A33"/>
                          </a:solidFill>
                          <a:latin typeface="Aptos"/>
                        </a:defRPr>
                      </a:pPr>
                      <a:r>
                        <a:t>Internal_Marks</a:t>
                      </a:r>
                    </a:p>
                  </a:txBody>
                  <a:tcPr>
                    <a:solidFill>
                      <a:srgbClr val="EFF3F8"/>
                    </a:solidFill>
                  </a:tcPr>
                </a:tc>
                <a:tc>
                  <a:txBody>
                    <a:bodyPr/>
                    <a:lstStyle/>
                    <a:p>
                      <a:pPr algn="ctr">
                        <a:defRPr sz="1050">
                          <a:solidFill>
                            <a:srgbClr val="232A33"/>
                          </a:solidFill>
                          <a:latin typeface="Aptos"/>
                        </a:defRPr>
                      </a:pPr>
                      <a:r>
                        <a:t>Numerical</a:t>
                      </a:r>
                    </a:p>
                  </a:txBody>
                  <a:tcPr>
                    <a:solidFill>
                      <a:srgbClr val="EFF3F8"/>
                    </a:solidFill>
                  </a:tcPr>
                </a:tc>
                <a:tc>
                  <a:txBody>
                    <a:bodyPr/>
                    <a:lstStyle/>
                    <a:p>
                      <a:pPr algn="l">
                        <a:defRPr sz="1050">
                          <a:solidFill>
                            <a:srgbClr val="232A33"/>
                          </a:solidFill>
                          <a:latin typeface="Aptos"/>
                        </a:defRPr>
                      </a:pPr>
                      <a:r>
                        <a:t>Internal examination marks</a:t>
                      </a:r>
                    </a:p>
                  </a:txBody>
                  <a:tcPr>
                    <a:solidFill>
                      <a:srgbClr val="EFF3F8"/>
                    </a:solidFill>
                  </a:tcPr>
                </a:tc>
              </a:tr>
              <a:tr h="385354">
                <a:tc>
                  <a:txBody>
                    <a:bodyPr/>
                    <a:lstStyle/>
                    <a:p>
                      <a:pPr algn="l">
                        <a:defRPr sz="1050">
                          <a:solidFill>
                            <a:srgbClr val="232A33"/>
                          </a:solidFill>
                          <a:latin typeface="Aptos"/>
                        </a:defRPr>
                      </a:pPr>
                      <a:r>
                        <a:t>Participation_Score</a:t>
                      </a:r>
                    </a:p>
                  </a:txBody>
                  <a:tcPr>
                    <a:solidFill>
                      <a:srgbClr val="FFFFFF"/>
                    </a:solidFill>
                  </a:tcPr>
                </a:tc>
                <a:tc>
                  <a:txBody>
                    <a:bodyPr/>
                    <a:lstStyle/>
                    <a:p>
                      <a:pPr algn="ctr">
                        <a:defRPr sz="1050">
                          <a:solidFill>
                            <a:srgbClr val="232A33"/>
                          </a:solidFill>
                          <a:latin typeface="Aptos"/>
                        </a:defRPr>
                      </a:pPr>
                      <a:r>
                        <a:t>Numerical</a:t>
                      </a:r>
                    </a:p>
                  </a:txBody>
                  <a:tcPr>
                    <a:solidFill>
                      <a:srgbClr val="FFFFFF"/>
                    </a:solidFill>
                  </a:tcPr>
                </a:tc>
                <a:tc>
                  <a:txBody>
                    <a:bodyPr/>
                    <a:lstStyle/>
                    <a:p>
                      <a:pPr algn="l">
                        <a:defRPr sz="1050">
                          <a:solidFill>
                            <a:srgbClr val="232A33"/>
                          </a:solidFill>
                          <a:latin typeface="Aptos"/>
                        </a:defRPr>
                      </a:pPr>
                      <a:r>
                        <a:t>Participation score (1–10)</a:t>
                      </a:r>
                    </a:p>
                  </a:txBody>
                  <a:tcPr>
                    <a:solidFill>
                      <a:srgbClr val="FFFFFF"/>
                    </a:solidFill>
                  </a:tcPr>
                </a:tc>
              </a:tr>
              <a:tr h="385356">
                <a:tc>
                  <a:txBody>
                    <a:bodyPr/>
                    <a:lstStyle/>
                    <a:p>
                      <a:pPr algn="l">
                        <a:defRPr sz="1050">
                          <a:solidFill>
                            <a:srgbClr val="232A33"/>
                          </a:solidFill>
                          <a:latin typeface="Aptos"/>
                        </a:defRPr>
                      </a:pPr>
                      <a:r>
                        <a:t>Backlog_Subjects</a:t>
                      </a:r>
                    </a:p>
                  </a:txBody>
                  <a:tcPr>
                    <a:solidFill>
                      <a:srgbClr val="EFF3F8"/>
                    </a:solidFill>
                  </a:tcPr>
                </a:tc>
                <a:tc>
                  <a:txBody>
                    <a:bodyPr/>
                    <a:lstStyle/>
                    <a:p>
                      <a:pPr algn="ctr">
                        <a:defRPr sz="1050">
                          <a:solidFill>
                            <a:srgbClr val="232A33"/>
                          </a:solidFill>
                          <a:latin typeface="Aptos"/>
                        </a:defRPr>
                      </a:pPr>
                      <a:r>
                        <a:t>Numerical</a:t>
                      </a:r>
                    </a:p>
                  </a:txBody>
                  <a:tcPr>
                    <a:solidFill>
                      <a:srgbClr val="EFF3F8"/>
                    </a:solidFill>
                  </a:tcPr>
                </a:tc>
                <a:tc>
                  <a:txBody>
                    <a:bodyPr/>
                    <a:lstStyle/>
                    <a:p>
                      <a:pPr algn="l">
                        <a:defRPr sz="1050">
                          <a:solidFill>
                            <a:srgbClr val="232A33"/>
                          </a:solidFill>
                          <a:latin typeface="Aptos"/>
                        </a:defRPr>
                      </a:pPr>
                      <a:r>
                        <a:t>Number of backlog subjects</a:t>
                      </a:r>
                    </a:p>
                  </a:txBody>
                  <a:tcPr>
                    <a:solidFill>
                      <a:srgbClr val="EFF3F8"/>
                    </a:solidFill>
                  </a:tcPr>
                </a:tc>
              </a:tr>
            </a:tbl>
          </a:graphicData>
        </a:graphic>
      </p:graphicFrame>
      <p:sp>
        <p:nvSpPr>
          <p:cNvPr id="22" name="Rounded Rectangle 21"/>
          <p:cNvSpPr/>
          <p:nvPr/>
        </p:nvSpPr>
        <p:spPr>
          <a:xfrm>
            <a:off x="594360" y="5486400"/>
            <a:ext cx="10972800" cy="713232"/>
          </a:xfrm>
          <a:prstGeom prst="roundRect">
            <a:avLst/>
          </a:prstGeom>
          <a:solidFill>
            <a:srgbClr val="F9EAEA"/>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5486400"/>
            <a:ext cx="64008" cy="713232"/>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23560"/>
            <a:ext cx="1065276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Target: At_Risk</a:t>
            </a:r>
          </a:p>
        </p:txBody>
      </p:sp>
      <p:sp>
        <p:nvSpPr>
          <p:cNvPr id="25" name="TextBox 24"/>
          <p:cNvSpPr txBox="1"/>
          <p:nvPr/>
        </p:nvSpPr>
        <p:spPr>
          <a:xfrm>
            <a:off x="777240" y="6053328"/>
            <a:ext cx="10652760" cy="18288"/>
          </a:xfrm>
          <a:prstGeom prst="rect">
            <a:avLst/>
          </a:prstGeom>
          <a:noFill/>
        </p:spPr>
        <p:txBody>
          <a:bodyPr wrap="square" anchor="t" lIns="18288" rIns="18288" tIns="18288" bIns="18288">
            <a:spAutoFit/>
          </a:bodyPr>
          <a:lstStyle/>
          <a:p>
            <a:pPr algn="l">
              <a:defRPr sz="1320" b="0">
                <a:solidFill>
                  <a:srgbClr val="232A33"/>
                </a:solidFill>
                <a:latin typeface="Aptos"/>
              </a:defRPr>
            </a:pPr>
            <a:r>
              <a:t>Categorical binary target → No / Yes</a:t>
            </a:r>
          </a:p>
        </p:txBody>
      </p:sp>
      <p:sp>
        <p:nvSpPr>
          <p:cNvPr id="26" name="Rectangle 25"/>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4. Practical EDA — Program &amp; Data Quality</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The EDA program checks structure, quality and class balance before model training.</a:t>
            </a:r>
          </a:p>
        </p:txBody>
      </p:sp>
      <p:sp>
        <p:nvSpPr>
          <p:cNvPr id="5" name="Rounded Rectangle 4"/>
          <p:cNvSpPr/>
          <p:nvPr/>
        </p:nvSpPr>
        <p:spPr>
          <a:xfrm>
            <a:off x="594360" y="1234440"/>
            <a:ext cx="5074920" cy="2194560"/>
          </a:xfrm>
          <a:prstGeom prst="roundRect">
            <a:avLst/>
          </a:prstGeom>
          <a:solidFill>
            <a:srgbClr val="1E232D"/>
          </a:solidFill>
          <a:ln>
            <a:solidFill>
              <a:srgbClr val="373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325880"/>
            <a:ext cx="4754880" cy="237744"/>
          </a:xfrm>
          <a:prstGeom prst="rect">
            <a:avLst/>
          </a:prstGeom>
          <a:noFill/>
        </p:spPr>
        <p:txBody>
          <a:bodyPr wrap="square" anchor="t" lIns="18288" rIns="18288" tIns="18288" bIns="18288">
            <a:spAutoFit/>
          </a:bodyPr>
          <a:lstStyle/>
          <a:p>
            <a:pPr algn="l">
              <a:defRPr sz="1100" b="1">
                <a:solidFill>
                  <a:srgbClr val="C2CDDB"/>
                </a:solidFill>
                <a:latin typeface="Aptos"/>
              </a:defRPr>
            </a:pPr>
            <a:r>
              <a:t>Core EDA code</a:t>
            </a:r>
          </a:p>
        </p:txBody>
      </p:sp>
      <p:sp>
        <p:nvSpPr>
          <p:cNvPr id="7" name="TextBox 6"/>
          <p:cNvSpPr txBox="1"/>
          <p:nvPr/>
        </p:nvSpPr>
        <p:spPr>
          <a:xfrm>
            <a:off x="758952" y="1618488"/>
            <a:ext cx="4754880" cy="1755648"/>
          </a:xfrm>
          <a:prstGeom prst="rect">
            <a:avLst/>
          </a:prstGeom>
          <a:noFill/>
        </p:spPr>
        <p:txBody>
          <a:bodyPr wrap="square">
            <a:spAutoFit/>
          </a:bodyPr>
          <a:lstStyle/>
          <a:p>
            <a:pPr>
              <a:defRPr sz="1070">
                <a:solidFill>
                  <a:srgbClr val="FFFFFF"/>
                </a:solidFill>
                <a:latin typeface="Consolas"/>
              </a:defRPr>
            </a:pPr>
            <a:r>
              <a:t>df = pd.read_csv("Student_Academic_Risk_Dataset.csv")</a:t>
            </a:r>
            <a:br/>
            <a:r>
              <a:t>print(df.shape)</a:t>
            </a:r>
            <a:br/>
            <a:r>
              <a:t>print(df.isnull().sum())</a:t>
            </a:r>
            <a:br/>
            <a:r>
              <a:t>print(df.duplicated().sum())</a:t>
            </a:r>
            <a:br/>
            <a:r>
              <a:t>print(df["At_Risk"].value_counts())</a:t>
            </a:r>
          </a:p>
        </p:txBody>
      </p:sp>
      <p:sp>
        <p:nvSpPr>
          <p:cNvPr id="8" name="Rounded Rectangle 7"/>
          <p:cNvSpPr/>
          <p:nvPr/>
        </p:nvSpPr>
        <p:spPr>
          <a:xfrm>
            <a:off x="5989320" y="1234440"/>
            <a:ext cx="5532120" cy="2194560"/>
          </a:xfrm>
          <a:prstGeom prst="roundRect">
            <a:avLst/>
          </a:prstGeom>
          <a:solidFill>
            <a:srgbClr val="E8F4F4"/>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89320" y="1234440"/>
            <a:ext cx="64008" cy="2194560"/>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1371600"/>
            <a:ext cx="521208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Observed output</a:t>
            </a:r>
          </a:p>
        </p:txBody>
      </p:sp>
      <p:sp>
        <p:nvSpPr>
          <p:cNvPr id="11" name="TextBox 10"/>
          <p:cNvSpPr txBox="1"/>
          <p:nvPr/>
        </p:nvSpPr>
        <p:spPr>
          <a:xfrm>
            <a:off x="6172200" y="1801368"/>
            <a:ext cx="5212080" cy="1499616"/>
          </a:xfrm>
          <a:prstGeom prst="rect">
            <a:avLst/>
          </a:prstGeom>
          <a:noFill/>
        </p:spPr>
        <p:txBody>
          <a:bodyPr wrap="square" anchor="t" lIns="18288" rIns="18288" tIns="18288" bIns="18288">
            <a:spAutoFit/>
          </a:bodyPr>
          <a:lstStyle/>
          <a:p>
            <a:pPr algn="l">
              <a:defRPr sz="1500" b="0">
                <a:solidFill>
                  <a:srgbClr val="232A33"/>
                </a:solidFill>
                <a:latin typeface="Aptos"/>
              </a:defRPr>
            </a:pPr>
            <a:r>
              <a:t>Shape → (1000, 7)</a:t>
            </a:r>
            <a:br/>
            <a:r>
              <a:t>Missing values → 0 in every column</a:t>
            </a:r>
            <a:br/>
            <a:r>
              <a:t>Duplicate rows → 0</a:t>
            </a:r>
            <a:br/>
            <a:r>
              <a:t>Class distribution → No = 500, Yes = 500</a:t>
            </a:r>
          </a:p>
        </p:txBody>
      </p:sp>
      <p:sp>
        <p:nvSpPr>
          <p:cNvPr id="12" name="Rounded Rectangle 11"/>
          <p:cNvSpPr/>
          <p:nvPr/>
        </p:nvSpPr>
        <p:spPr>
          <a:xfrm>
            <a:off x="594360" y="3703320"/>
            <a:ext cx="3429000" cy="1600200"/>
          </a:xfrm>
          <a:prstGeom prst="roundRect">
            <a:avLst/>
          </a:prstGeom>
          <a:solidFill>
            <a:srgbClr val="E7EFF8"/>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3703320"/>
            <a:ext cx="64008" cy="160020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40480"/>
            <a:ext cx="310896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Numerical inputs</a:t>
            </a:r>
          </a:p>
        </p:txBody>
      </p:sp>
      <p:sp>
        <p:nvSpPr>
          <p:cNvPr id="15" name="TextBox 14"/>
          <p:cNvSpPr txBox="1"/>
          <p:nvPr/>
        </p:nvSpPr>
        <p:spPr>
          <a:xfrm>
            <a:off x="777240" y="4270248"/>
            <a:ext cx="3108960" cy="905256"/>
          </a:xfrm>
          <a:prstGeom prst="rect">
            <a:avLst/>
          </a:prstGeom>
          <a:noFill/>
        </p:spPr>
        <p:txBody>
          <a:bodyPr wrap="square" anchor="t" lIns="18288" rIns="18288" tIns="18288" bIns="18288">
            <a:spAutoFit/>
          </a:bodyPr>
          <a:lstStyle/>
          <a:p>
            <a:pPr algn="l">
              <a:defRPr sz="1500" b="0">
                <a:solidFill>
                  <a:srgbClr val="232A33"/>
                </a:solidFill>
                <a:latin typeface="Aptos"/>
              </a:defRPr>
            </a:pPr>
            <a:r>
              <a:t>6 numerical features</a:t>
            </a:r>
          </a:p>
        </p:txBody>
      </p:sp>
      <p:sp>
        <p:nvSpPr>
          <p:cNvPr id="16" name="Rounded Rectangle 15"/>
          <p:cNvSpPr/>
          <p:nvPr/>
        </p:nvSpPr>
        <p:spPr>
          <a:xfrm>
            <a:off x="4389120" y="3703320"/>
            <a:ext cx="3429000" cy="1600200"/>
          </a:xfrm>
          <a:prstGeom prst="roundRect">
            <a:avLst/>
          </a:prstGeom>
          <a:solidFill>
            <a:srgbClr val="F9EFE1"/>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3703320"/>
            <a:ext cx="64008" cy="1600200"/>
          </a:xfrm>
          <a:prstGeom prst="rect">
            <a:avLst/>
          </a:prstGeom>
          <a:solidFill>
            <a:srgbClr val="D37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840480"/>
            <a:ext cx="310896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Categorical target</a:t>
            </a:r>
          </a:p>
        </p:txBody>
      </p:sp>
      <p:sp>
        <p:nvSpPr>
          <p:cNvPr id="19" name="TextBox 18"/>
          <p:cNvSpPr txBox="1"/>
          <p:nvPr/>
        </p:nvSpPr>
        <p:spPr>
          <a:xfrm>
            <a:off x="4572000" y="4270248"/>
            <a:ext cx="3108960" cy="905256"/>
          </a:xfrm>
          <a:prstGeom prst="rect">
            <a:avLst/>
          </a:prstGeom>
          <a:noFill/>
        </p:spPr>
        <p:txBody>
          <a:bodyPr wrap="square" anchor="t" lIns="18288" rIns="18288" tIns="18288" bIns="18288">
            <a:spAutoFit/>
          </a:bodyPr>
          <a:lstStyle/>
          <a:p>
            <a:pPr algn="l">
              <a:defRPr sz="1500" b="0">
                <a:solidFill>
                  <a:srgbClr val="232A33"/>
                </a:solidFill>
                <a:latin typeface="Aptos"/>
              </a:defRPr>
            </a:pPr>
            <a:r>
              <a:t>At_Risk → Yes / No</a:t>
            </a:r>
          </a:p>
        </p:txBody>
      </p:sp>
      <p:sp>
        <p:nvSpPr>
          <p:cNvPr id="20" name="Rounded Rectangle 19"/>
          <p:cNvSpPr/>
          <p:nvPr/>
        </p:nvSpPr>
        <p:spPr>
          <a:xfrm>
            <a:off x="8183879" y="3703320"/>
            <a:ext cx="3337560" cy="1600200"/>
          </a:xfrm>
          <a:prstGeom prst="roundRect">
            <a:avLst/>
          </a:prstGeom>
          <a:solidFill>
            <a:srgbClr val="F9EAEA"/>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3703320"/>
            <a:ext cx="64008" cy="1600200"/>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59" y="3840480"/>
            <a:ext cx="301752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Data quality</a:t>
            </a:r>
          </a:p>
        </p:txBody>
      </p:sp>
      <p:sp>
        <p:nvSpPr>
          <p:cNvPr id="23" name="TextBox 22"/>
          <p:cNvSpPr txBox="1"/>
          <p:nvPr/>
        </p:nvSpPr>
        <p:spPr>
          <a:xfrm>
            <a:off x="8366759" y="4270248"/>
            <a:ext cx="3017520" cy="905256"/>
          </a:xfrm>
          <a:prstGeom prst="rect">
            <a:avLst/>
          </a:prstGeom>
          <a:noFill/>
        </p:spPr>
        <p:txBody>
          <a:bodyPr wrap="square" anchor="t" lIns="18288" rIns="18288" tIns="18288" bIns="18288">
            <a:spAutoFit/>
          </a:bodyPr>
          <a:lstStyle/>
          <a:p>
            <a:pPr algn="l">
              <a:defRPr sz="1450" b="0">
                <a:solidFill>
                  <a:srgbClr val="232A33"/>
                </a:solidFill>
                <a:latin typeface="Aptos"/>
              </a:defRPr>
            </a:pPr>
            <a:r>
              <a:t>No missing values</a:t>
            </a:r>
            <a:br/>
            <a:r>
              <a:t>No duplicate rows</a:t>
            </a:r>
          </a:p>
        </p:txBody>
      </p:sp>
      <p:sp>
        <p:nvSpPr>
          <p:cNvPr id="24" name="TextBox 23"/>
          <p:cNvSpPr txBox="1"/>
          <p:nvPr/>
        </p:nvSpPr>
        <p:spPr>
          <a:xfrm>
            <a:off x="731520" y="5623560"/>
            <a:ext cx="10698480" cy="457200"/>
          </a:xfrm>
          <a:prstGeom prst="rect">
            <a:avLst/>
          </a:prstGeom>
          <a:noFill/>
        </p:spPr>
        <p:txBody>
          <a:bodyPr wrap="square" anchor="t" lIns="18288" rIns="18288" tIns="18288" bIns="18288">
            <a:spAutoFit/>
          </a:bodyPr>
          <a:lstStyle/>
          <a:p>
            <a:pPr algn="ctr">
              <a:defRPr sz="1300" b="1">
                <a:solidFill>
                  <a:srgbClr val="132037"/>
                </a:solidFill>
                <a:latin typeface="Aptos"/>
              </a:defRPr>
            </a:pPr>
            <a:r>
              <a:t>EDA takeaway: the dataset is complete, balanced at the target level, and ready for the modelling stage.</a:t>
            </a:r>
          </a:p>
        </p:txBody>
      </p:sp>
      <p:sp>
        <p:nvSpPr>
          <p:cNvPr id="25" name="Rectangle 24"/>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5. EDA Visual Findings</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Two feature-level views plus the target-class distribution.</a:t>
            </a:r>
          </a:p>
        </p:txBody>
      </p:sp>
      <p:pic>
        <p:nvPicPr>
          <p:cNvPr id="5" name="Picture 4" descr="review3_attendance_distribution.png"/>
          <p:cNvPicPr>
            <a:picLocks noChangeAspect="1"/>
          </p:cNvPicPr>
          <p:nvPr/>
        </p:nvPicPr>
        <p:blipFill>
          <a:blip r:embed="rId2"/>
          <a:stretch>
            <a:fillRect/>
          </a:stretch>
        </p:blipFill>
        <p:spPr>
          <a:xfrm>
            <a:off x="502920" y="1234440"/>
            <a:ext cx="5486400" cy="3151670"/>
          </a:xfrm>
          <a:prstGeom prst="rect">
            <a:avLst/>
          </a:prstGeom>
        </p:spPr>
      </p:pic>
      <p:pic>
        <p:nvPicPr>
          <p:cNvPr id="6" name="Picture 5" descr="review3_backlogs_risk.png"/>
          <p:cNvPicPr>
            <a:picLocks noChangeAspect="1"/>
          </p:cNvPicPr>
          <p:nvPr/>
        </p:nvPicPr>
        <p:blipFill>
          <a:blip r:embed="rId3"/>
          <a:stretch>
            <a:fillRect/>
          </a:stretch>
        </p:blipFill>
        <p:spPr>
          <a:xfrm>
            <a:off x="6172200" y="1234440"/>
            <a:ext cx="5440680" cy="3472573"/>
          </a:xfrm>
          <a:prstGeom prst="rect">
            <a:avLst/>
          </a:prstGeom>
        </p:spPr>
      </p:pic>
      <p:sp>
        <p:nvSpPr>
          <p:cNvPr id="7" name="Rounded Rectangle 6"/>
          <p:cNvSpPr/>
          <p:nvPr/>
        </p:nvSpPr>
        <p:spPr>
          <a:xfrm>
            <a:off x="685800" y="4617720"/>
            <a:ext cx="525780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4617720"/>
            <a:ext cx="64008" cy="123444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754880"/>
            <a:ext cx="493776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Attendance pattern</a:t>
            </a:r>
          </a:p>
        </p:txBody>
      </p:sp>
      <p:sp>
        <p:nvSpPr>
          <p:cNvPr id="10" name="TextBox 9"/>
          <p:cNvSpPr txBox="1"/>
          <p:nvPr/>
        </p:nvSpPr>
        <p:spPr>
          <a:xfrm>
            <a:off x="868680" y="5184648"/>
            <a:ext cx="4937760" cy="539496"/>
          </a:xfrm>
          <a:prstGeom prst="rect">
            <a:avLst/>
          </a:prstGeom>
          <a:noFill/>
        </p:spPr>
        <p:txBody>
          <a:bodyPr wrap="square" anchor="t" lIns="18288" rIns="18288" tIns="18288" bIns="18288">
            <a:spAutoFit/>
          </a:bodyPr>
          <a:lstStyle/>
          <a:p>
            <a:pPr algn="l">
              <a:defRPr sz="1290" b="0">
                <a:solidFill>
                  <a:srgbClr val="232A33"/>
                </a:solidFill>
                <a:latin typeface="Aptos"/>
              </a:defRPr>
            </a:pPr>
            <a:r>
              <a:t>The two classes overlap, but they show different attendance distributions. Attendance is useful, but not sufficient by itself.</a:t>
            </a:r>
          </a:p>
        </p:txBody>
      </p:sp>
      <p:sp>
        <p:nvSpPr>
          <p:cNvPr id="11" name="Rounded Rectangle 10"/>
          <p:cNvSpPr/>
          <p:nvPr/>
        </p:nvSpPr>
        <p:spPr>
          <a:xfrm>
            <a:off x="6355080" y="4617720"/>
            <a:ext cx="507492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4617720"/>
            <a:ext cx="64008" cy="1234440"/>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4754880"/>
            <a:ext cx="475488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Backlog pattern</a:t>
            </a:r>
          </a:p>
        </p:txBody>
      </p:sp>
      <p:sp>
        <p:nvSpPr>
          <p:cNvPr id="14" name="TextBox 13"/>
          <p:cNvSpPr txBox="1"/>
          <p:nvPr/>
        </p:nvSpPr>
        <p:spPr>
          <a:xfrm>
            <a:off x="6537960" y="5184648"/>
            <a:ext cx="4754880" cy="539496"/>
          </a:xfrm>
          <a:prstGeom prst="rect">
            <a:avLst/>
          </a:prstGeom>
          <a:noFill/>
        </p:spPr>
        <p:txBody>
          <a:bodyPr wrap="square" anchor="t" lIns="18288" rIns="18288" tIns="18288" bIns="18288">
            <a:spAutoFit/>
          </a:bodyPr>
          <a:lstStyle/>
          <a:p>
            <a:pPr algn="l">
              <a:defRPr sz="1290" b="0">
                <a:solidFill>
                  <a:srgbClr val="232A33"/>
                </a:solidFill>
                <a:latin typeface="Aptos"/>
              </a:defRPr>
            </a:pPr>
            <a:r>
              <a:t>The At-Risk class shows a tendency toward higher backlog counts. This is an association observed in the prototype dataset.</a:t>
            </a:r>
          </a:p>
        </p:txBody>
      </p:sp>
      <p:sp>
        <p:nvSpPr>
          <p:cNvPr id="15" name="Rectangle 14"/>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6. Algorithm Demonstration — Logistic Regression</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Binary classification pipeline used in the prototype.</a:t>
            </a:r>
          </a:p>
        </p:txBody>
      </p:sp>
      <p:sp>
        <p:nvSpPr>
          <p:cNvPr id="5" name="Rounded Rectangle 4"/>
          <p:cNvSpPr/>
          <p:nvPr/>
        </p:nvSpPr>
        <p:spPr>
          <a:xfrm>
            <a:off x="502920" y="1234440"/>
            <a:ext cx="1874519" cy="288036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1874519" cy="9144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426464"/>
            <a:ext cx="347472" cy="347472"/>
          </a:xfrm>
          <a:prstGeom prst="rect">
            <a:avLst/>
          </a:prstGeom>
          <a:noFill/>
        </p:spPr>
        <p:txBody>
          <a:bodyPr wrap="square" anchor="t" lIns="18288" rIns="18288" tIns="18288" bIns="18288">
            <a:spAutoFit/>
          </a:bodyPr>
          <a:lstStyle/>
          <a:p>
            <a:pPr algn="ctr">
              <a:defRPr sz="1600" b="1">
                <a:solidFill>
                  <a:srgbClr val="2B5C91"/>
                </a:solidFill>
                <a:latin typeface="Aptos"/>
              </a:defRPr>
            </a:pPr>
            <a:r>
              <a:t>1</a:t>
            </a:r>
          </a:p>
        </p:txBody>
      </p:sp>
      <p:sp>
        <p:nvSpPr>
          <p:cNvPr id="8" name="TextBox 7"/>
          <p:cNvSpPr txBox="1"/>
          <p:nvPr/>
        </p:nvSpPr>
        <p:spPr>
          <a:xfrm>
            <a:off x="1005840" y="1417320"/>
            <a:ext cx="1207008" cy="384048"/>
          </a:xfrm>
          <a:prstGeom prst="rect">
            <a:avLst/>
          </a:prstGeom>
          <a:noFill/>
        </p:spPr>
        <p:txBody>
          <a:bodyPr wrap="square" anchor="t" lIns="18288" rIns="18288" tIns="18288" bIns="18288">
            <a:spAutoFit/>
          </a:bodyPr>
          <a:lstStyle/>
          <a:p>
            <a:pPr algn="l">
              <a:defRPr sz="1450" b="1">
                <a:solidFill>
                  <a:srgbClr val="132037"/>
                </a:solidFill>
                <a:latin typeface="Aptos"/>
              </a:defRPr>
            </a:pPr>
            <a:r>
              <a:t>Six features</a:t>
            </a:r>
          </a:p>
        </p:txBody>
      </p:sp>
      <p:sp>
        <p:nvSpPr>
          <p:cNvPr id="9" name="TextBox 8"/>
          <p:cNvSpPr txBox="1"/>
          <p:nvPr/>
        </p:nvSpPr>
        <p:spPr>
          <a:xfrm>
            <a:off x="667512" y="1965960"/>
            <a:ext cx="1554480" cy="1691640"/>
          </a:xfrm>
          <a:prstGeom prst="rect">
            <a:avLst/>
          </a:prstGeom>
          <a:noFill/>
        </p:spPr>
        <p:txBody>
          <a:bodyPr wrap="square" anchor="t" lIns="18288" rIns="18288" tIns="18288" bIns="18288">
            <a:spAutoFit/>
          </a:bodyPr>
          <a:lstStyle/>
          <a:p>
            <a:pPr algn="ctr">
              <a:defRPr sz="1300" b="0">
                <a:solidFill>
                  <a:srgbClr val="232A33"/>
                </a:solidFill>
                <a:latin typeface="Aptos"/>
              </a:defRPr>
            </a:pPr>
            <a:r>
              <a:t>Attendance</a:t>
            </a:r>
            <a:br/>
            <a:r>
              <a:t>Grades</a:t>
            </a:r>
            <a:br/>
            <a:r>
              <a:t>Assignments</a:t>
            </a:r>
            <a:br/>
            <a:r>
              <a:t>Internals</a:t>
            </a:r>
            <a:br/>
            <a:r>
              <a:t>Participation</a:t>
            </a:r>
            <a:br/>
            <a:r>
              <a:t>Backlogs</a:t>
            </a:r>
          </a:p>
        </p:txBody>
      </p:sp>
      <p:sp>
        <p:nvSpPr>
          <p:cNvPr id="10" name="Rounded Rectangle 9"/>
          <p:cNvSpPr/>
          <p:nvPr/>
        </p:nvSpPr>
        <p:spPr>
          <a:xfrm>
            <a:off x="2852928" y="1234440"/>
            <a:ext cx="1874519" cy="288036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52928" y="1234440"/>
            <a:ext cx="1874519" cy="91440"/>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62656" y="1426464"/>
            <a:ext cx="347472" cy="347472"/>
          </a:xfrm>
          <a:prstGeom prst="rect">
            <a:avLst/>
          </a:prstGeom>
          <a:noFill/>
        </p:spPr>
        <p:txBody>
          <a:bodyPr wrap="square" anchor="t" lIns="18288" rIns="18288" tIns="18288" bIns="18288">
            <a:spAutoFit/>
          </a:bodyPr>
          <a:lstStyle/>
          <a:p>
            <a:pPr algn="ctr">
              <a:defRPr sz="1600" b="1">
                <a:solidFill>
                  <a:srgbClr val="268B91"/>
                </a:solidFill>
                <a:latin typeface="Aptos"/>
              </a:defRPr>
            </a:pPr>
            <a:r>
              <a:t>2</a:t>
            </a:r>
          </a:p>
        </p:txBody>
      </p:sp>
      <p:sp>
        <p:nvSpPr>
          <p:cNvPr id="13" name="TextBox 12"/>
          <p:cNvSpPr txBox="1"/>
          <p:nvPr/>
        </p:nvSpPr>
        <p:spPr>
          <a:xfrm>
            <a:off x="3355848" y="1417320"/>
            <a:ext cx="1207008" cy="384048"/>
          </a:xfrm>
          <a:prstGeom prst="rect">
            <a:avLst/>
          </a:prstGeom>
          <a:noFill/>
        </p:spPr>
        <p:txBody>
          <a:bodyPr wrap="square" anchor="t" lIns="18288" rIns="18288" tIns="18288" bIns="18288">
            <a:spAutoFit/>
          </a:bodyPr>
          <a:lstStyle/>
          <a:p>
            <a:pPr algn="l">
              <a:defRPr sz="1450" b="1">
                <a:solidFill>
                  <a:srgbClr val="132037"/>
                </a:solidFill>
                <a:latin typeface="Aptos"/>
              </a:defRPr>
            </a:pPr>
            <a:r>
              <a:t>Train / Test</a:t>
            </a:r>
          </a:p>
        </p:txBody>
      </p:sp>
      <p:sp>
        <p:nvSpPr>
          <p:cNvPr id="14" name="TextBox 13"/>
          <p:cNvSpPr txBox="1"/>
          <p:nvPr/>
        </p:nvSpPr>
        <p:spPr>
          <a:xfrm>
            <a:off x="3017520" y="1965960"/>
            <a:ext cx="1554480" cy="1691640"/>
          </a:xfrm>
          <a:prstGeom prst="rect">
            <a:avLst/>
          </a:prstGeom>
          <a:noFill/>
        </p:spPr>
        <p:txBody>
          <a:bodyPr wrap="square" anchor="t" lIns="18288" rIns="18288" tIns="18288" bIns="18288">
            <a:spAutoFit/>
          </a:bodyPr>
          <a:lstStyle/>
          <a:p>
            <a:pPr algn="ctr">
              <a:defRPr sz="1300" b="0">
                <a:solidFill>
                  <a:srgbClr val="232A33"/>
                </a:solidFill>
                <a:latin typeface="Aptos"/>
              </a:defRPr>
            </a:pPr>
            <a:r>
              <a:t>80% train</a:t>
            </a:r>
            <a:br/>
            <a:r>
              <a:t>20% test</a:t>
            </a:r>
            <a:br/>
            <a:r>
              <a:t>stratify=y</a:t>
            </a:r>
          </a:p>
        </p:txBody>
      </p:sp>
      <p:sp>
        <p:nvSpPr>
          <p:cNvPr id="15" name="Rounded Rectangle 14"/>
          <p:cNvSpPr/>
          <p:nvPr/>
        </p:nvSpPr>
        <p:spPr>
          <a:xfrm>
            <a:off x="5193792" y="1234440"/>
            <a:ext cx="1874519" cy="288036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93792" y="1234440"/>
            <a:ext cx="1874519" cy="91440"/>
          </a:xfrm>
          <a:prstGeom prst="rect">
            <a:avLst/>
          </a:prstGeom>
          <a:solidFill>
            <a:srgbClr val="D37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0" y="1426464"/>
            <a:ext cx="347472" cy="347472"/>
          </a:xfrm>
          <a:prstGeom prst="rect">
            <a:avLst/>
          </a:prstGeom>
          <a:noFill/>
        </p:spPr>
        <p:txBody>
          <a:bodyPr wrap="square" anchor="t" lIns="18288" rIns="18288" tIns="18288" bIns="18288">
            <a:spAutoFit/>
          </a:bodyPr>
          <a:lstStyle/>
          <a:p>
            <a:pPr algn="ctr">
              <a:defRPr sz="1600" b="1">
                <a:solidFill>
                  <a:srgbClr val="D37E2A"/>
                </a:solidFill>
                <a:latin typeface="Aptos"/>
              </a:defRPr>
            </a:pPr>
            <a:r>
              <a:t>3</a:t>
            </a:r>
          </a:p>
        </p:txBody>
      </p:sp>
      <p:sp>
        <p:nvSpPr>
          <p:cNvPr id="18" name="TextBox 17"/>
          <p:cNvSpPr txBox="1"/>
          <p:nvPr/>
        </p:nvSpPr>
        <p:spPr>
          <a:xfrm>
            <a:off x="5696712" y="1417320"/>
            <a:ext cx="1207008" cy="384048"/>
          </a:xfrm>
          <a:prstGeom prst="rect">
            <a:avLst/>
          </a:prstGeom>
          <a:noFill/>
        </p:spPr>
        <p:txBody>
          <a:bodyPr wrap="square" anchor="t" lIns="18288" rIns="18288" tIns="18288" bIns="18288">
            <a:spAutoFit/>
          </a:bodyPr>
          <a:lstStyle/>
          <a:p>
            <a:pPr algn="l">
              <a:defRPr sz="1450" b="1">
                <a:solidFill>
                  <a:srgbClr val="132037"/>
                </a:solidFill>
                <a:latin typeface="Aptos"/>
              </a:defRPr>
            </a:pPr>
            <a:r>
              <a:t>StandardScaler</a:t>
            </a:r>
          </a:p>
        </p:txBody>
      </p:sp>
      <p:sp>
        <p:nvSpPr>
          <p:cNvPr id="19" name="TextBox 18"/>
          <p:cNvSpPr txBox="1"/>
          <p:nvPr/>
        </p:nvSpPr>
        <p:spPr>
          <a:xfrm>
            <a:off x="5358383" y="1965960"/>
            <a:ext cx="1554480" cy="1691640"/>
          </a:xfrm>
          <a:prstGeom prst="rect">
            <a:avLst/>
          </a:prstGeom>
          <a:noFill/>
        </p:spPr>
        <p:txBody>
          <a:bodyPr wrap="square" anchor="t" lIns="18288" rIns="18288" tIns="18288" bIns="18288">
            <a:spAutoFit/>
          </a:bodyPr>
          <a:lstStyle/>
          <a:p>
            <a:pPr algn="ctr">
              <a:defRPr sz="1300" b="0">
                <a:solidFill>
                  <a:srgbClr val="232A33"/>
                </a:solidFill>
                <a:latin typeface="Aptos"/>
              </a:defRPr>
            </a:pPr>
            <a:r>
              <a:t>Fit on train</a:t>
            </a:r>
            <a:br/>
            <a:r>
              <a:t>Transform train + test</a:t>
            </a:r>
          </a:p>
        </p:txBody>
      </p:sp>
      <p:sp>
        <p:nvSpPr>
          <p:cNvPr id="20" name="Rounded Rectangle 19"/>
          <p:cNvSpPr/>
          <p:nvPr/>
        </p:nvSpPr>
        <p:spPr>
          <a:xfrm>
            <a:off x="7534656" y="1234440"/>
            <a:ext cx="1874519" cy="288036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34656" y="1234440"/>
            <a:ext cx="1874519" cy="91440"/>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44383" y="1426464"/>
            <a:ext cx="347472" cy="347472"/>
          </a:xfrm>
          <a:prstGeom prst="rect">
            <a:avLst/>
          </a:prstGeom>
          <a:noFill/>
        </p:spPr>
        <p:txBody>
          <a:bodyPr wrap="square" anchor="t" lIns="18288" rIns="18288" tIns="18288" bIns="18288">
            <a:spAutoFit/>
          </a:bodyPr>
          <a:lstStyle/>
          <a:p>
            <a:pPr algn="ctr">
              <a:defRPr sz="1600" b="1">
                <a:solidFill>
                  <a:srgbClr val="AE4343"/>
                </a:solidFill>
                <a:latin typeface="Aptos"/>
              </a:defRPr>
            </a:pPr>
            <a:r>
              <a:t>4</a:t>
            </a:r>
          </a:p>
        </p:txBody>
      </p:sp>
      <p:sp>
        <p:nvSpPr>
          <p:cNvPr id="23" name="TextBox 22"/>
          <p:cNvSpPr txBox="1"/>
          <p:nvPr/>
        </p:nvSpPr>
        <p:spPr>
          <a:xfrm>
            <a:off x="8037576" y="1417320"/>
            <a:ext cx="1207008" cy="384048"/>
          </a:xfrm>
          <a:prstGeom prst="rect">
            <a:avLst/>
          </a:prstGeom>
          <a:noFill/>
        </p:spPr>
        <p:txBody>
          <a:bodyPr wrap="square" anchor="t" lIns="18288" rIns="18288" tIns="18288" bIns="18288">
            <a:spAutoFit/>
          </a:bodyPr>
          <a:lstStyle/>
          <a:p>
            <a:pPr algn="l">
              <a:defRPr sz="1450" b="1">
                <a:solidFill>
                  <a:srgbClr val="132037"/>
                </a:solidFill>
                <a:latin typeface="Aptos"/>
              </a:defRPr>
            </a:pPr>
            <a:r>
              <a:t>Logistic Regression</a:t>
            </a:r>
          </a:p>
        </p:txBody>
      </p:sp>
      <p:sp>
        <p:nvSpPr>
          <p:cNvPr id="24" name="TextBox 23"/>
          <p:cNvSpPr txBox="1"/>
          <p:nvPr/>
        </p:nvSpPr>
        <p:spPr>
          <a:xfrm>
            <a:off x="7699248" y="1965960"/>
            <a:ext cx="1554480" cy="1691640"/>
          </a:xfrm>
          <a:prstGeom prst="rect">
            <a:avLst/>
          </a:prstGeom>
          <a:noFill/>
        </p:spPr>
        <p:txBody>
          <a:bodyPr wrap="square" anchor="t" lIns="18288" rIns="18288" tIns="18288" bIns="18288">
            <a:spAutoFit/>
          </a:bodyPr>
          <a:lstStyle/>
          <a:p>
            <a:pPr algn="ctr">
              <a:defRPr sz="1300" b="0">
                <a:solidFill>
                  <a:srgbClr val="232A33"/>
                </a:solidFill>
                <a:latin typeface="Aptos"/>
              </a:defRPr>
            </a:pPr>
            <a:r>
              <a:t>Weighted sum</a:t>
            </a:r>
            <a:br/>
            <a:r>
              <a:t>Sigmoid probability</a:t>
            </a:r>
          </a:p>
        </p:txBody>
      </p:sp>
      <p:sp>
        <p:nvSpPr>
          <p:cNvPr id="25" name="Rounded Rectangle 24"/>
          <p:cNvSpPr/>
          <p:nvPr/>
        </p:nvSpPr>
        <p:spPr>
          <a:xfrm>
            <a:off x="9875520" y="1234440"/>
            <a:ext cx="1874519" cy="288036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875520" y="1234440"/>
            <a:ext cx="1874519" cy="9144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85248" y="1426464"/>
            <a:ext cx="347472" cy="347472"/>
          </a:xfrm>
          <a:prstGeom prst="rect">
            <a:avLst/>
          </a:prstGeom>
          <a:noFill/>
        </p:spPr>
        <p:txBody>
          <a:bodyPr wrap="square" anchor="t" lIns="18288" rIns="18288" tIns="18288" bIns="18288">
            <a:spAutoFit/>
          </a:bodyPr>
          <a:lstStyle/>
          <a:p>
            <a:pPr algn="ctr">
              <a:defRPr sz="1600" b="1">
                <a:solidFill>
                  <a:srgbClr val="2B5C91"/>
                </a:solidFill>
                <a:latin typeface="Aptos"/>
              </a:defRPr>
            </a:pPr>
            <a:r>
              <a:t>5</a:t>
            </a:r>
          </a:p>
        </p:txBody>
      </p:sp>
      <p:sp>
        <p:nvSpPr>
          <p:cNvPr id="28" name="TextBox 27"/>
          <p:cNvSpPr txBox="1"/>
          <p:nvPr/>
        </p:nvSpPr>
        <p:spPr>
          <a:xfrm>
            <a:off x="10378440" y="1417320"/>
            <a:ext cx="1207008" cy="384048"/>
          </a:xfrm>
          <a:prstGeom prst="rect">
            <a:avLst/>
          </a:prstGeom>
          <a:noFill/>
        </p:spPr>
        <p:txBody>
          <a:bodyPr wrap="square" anchor="t" lIns="18288" rIns="18288" tIns="18288" bIns="18288">
            <a:spAutoFit/>
          </a:bodyPr>
          <a:lstStyle/>
          <a:p>
            <a:pPr algn="l">
              <a:defRPr sz="1450" b="1">
                <a:solidFill>
                  <a:srgbClr val="132037"/>
                </a:solidFill>
                <a:latin typeface="Aptos"/>
              </a:defRPr>
            </a:pPr>
            <a:r>
              <a:t>0.5 threshold</a:t>
            </a:r>
          </a:p>
        </p:txBody>
      </p:sp>
      <p:sp>
        <p:nvSpPr>
          <p:cNvPr id="29" name="TextBox 28"/>
          <p:cNvSpPr txBox="1"/>
          <p:nvPr/>
        </p:nvSpPr>
        <p:spPr>
          <a:xfrm>
            <a:off x="10040112" y="1965960"/>
            <a:ext cx="1554480" cy="1691640"/>
          </a:xfrm>
          <a:prstGeom prst="rect">
            <a:avLst/>
          </a:prstGeom>
          <a:noFill/>
        </p:spPr>
        <p:txBody>
          <a:bodyPr wrap="square" anchor="t" lIns="18288" rIns="18288" tIns="18288" bIns="18288">
            <a:spAutoFit/>
          </a:bodyPr>
          <a:lstStyle/>
          <a:p>
            <a:pPr algn="ctr">
              <a:defRPr sz="1300" b="0">
                <a:solidFill>
                  <a:srgbClr val="232A33"/>
                </a:solidFill>
                <a:latin typeface="Aptos"/>
              </a:defRPr>
            </a:pPr>
            <a:r>
              <a:t>≥ 0.5 → YES</a:t>
            </a:r>
            <a:br/>
            <a:r>
              <a:t>&lt; 0.5 → NO</a:t>
            </a:r>
          </a:p>
        </p:txBody>
      </p:sp>
      <p:sp>
        <p:nvSpPr>
          <p:cNvPr id="30" name="Rounded Rectangle 29"/>
          <p:cNvSpPr/>
          <p:nvPr/>
        </p:nvSpPr>
        <p:spPr>
          <a:xfrm>
            <a:off x="685800" y="4434840"/>
            <a:ext cx="5303520" cy="1234440"/>
          </a:xfrm>
          <a:prstGeom prst="roundRect">
            <a:avLst/>
          </a:prstGeom>
          <a:solidFill>
            <a:srgbClr val="E8F4F4"/>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800" y="4434840"/>
            <a:ext cx="64008" cy="1234440"/>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572000"/>
            <a:ext cx="498348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Model equation</a:t>
            </a:r>
          </a:p>
        </p:txBody>
      </p:sp>
      <p:sp>
        <p:nvSpPr>
          <p:cNvPr id="33" name="TextBox 32"/>
          <p:cNvSpPr txBox="1"/>
          <p:nvPr/>
        </p:nvSpPr>
        <p:spPr>
          <a:xfrm>
            <a:off x="868680" y="5001768"/>
            <a:ext cx="4983480" cy="539496"/>
          </a:xfrm>
          <a:prstGeom prst="rect">
            <a:avLst/>
          </a:prstGeom>
          <a:noFill/>
        </p:spPr>
        <p:txBody>
          <a:bodyPr wrap="square" anchor="t" lIns="18288" rIns="18288" tIns="18288" bIns="18288">
            <a:spAutoFit/>
          </a:bodyPr>
          <a:lstStyle/>
          <a:p>
            <a:pPr algn="l">
              <a:defRPr sz="1520" b="0">
                <a:solidFill>
                  <a:srgbClr val="232A33"/>
                </a:solidFill>
                <a:latin typeface="Aptos"/>
              </a:defRPr>
            </a:pPr>
            <a:r>
              <a:t>z = b₀ + b₁x₁ + b₂x₂ + … + b₆x₆</a:t>
            </a:r>
            <a:br/>
            <a:r>
              <a:t>P(At Risk) = 1 / (1 + e⁻ᶻ)</a:t>
            </a:r>
          </a:p>
        </p:txBody>
      </p:sp>
      <p:sp>
        <p:nvSpPr>
          <p:cNvPr id="34" name="Rounded Rectangle 33"/>
          <p:cNvSpPr/>
          <p:nvPr/>
        </p:nvSpPr>
        <p:spPr>
          <a:xfrm>
            <a:off x="6217920" y="4434840"/>
            <a:ext cx="5257800" cy="1234440"/>
          </a:xfrm>
          <a:prstGeom prst="roundRect">
            <a:avLst/>
          </a:prstGeom>
          <a:solidFill>
            <a:srgbClr val="F9EFE1"/>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4434840"/>
            <a:ext cx="64008" cy="1234440"/>
          </a:xfrm>
          <a:prstGeom prst="rect">
            <a:avLst/>
          </a:prstGeom>
          <a:solidFill>
            <a:srgbClr val="D37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4572000"/>
            <a:ext cx="493776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Decision rule</a:t>
            </a:r>
          </a:p>
        </p:txBody>
      </p:sp>
      <p:sp>
        <p:nvSpPr>
          <p:cNvPr id="37" name="TextBox 36"/>
          <p:cNvSpPr txBox="1"/>
          <p:nvPr/>
        </p:nvSpPr>
        <p:spPr>
          <a:xfrm>
            <a:off x="6400800" y="5001768"/>
            <a:ext cx="4937760" cy="539496"/>
          </a:xfrm>
          <a:prstGeom prst="rect">
            <a:avLst/>
          </a:prstGeom>
          <a:noFill/>
        </p:spPr>
        <p:txBody>
          <a:bodyPr wrap="square" anchor="t" lIns="18288" rIns="18288" tIns="18288" bIns="18288">
            <a:spAutoFit/>
          </a:bodyPr>
          <a:lstStyle/>
          <a:p>
            <a:pPr algn="l">
              <a:defRPr sz="1400" b="0">
                <a:solidFill>
                  <a:srgbClr val="232A33"/>
                </a:solidFill>
                <a:latin typeface="Aptos"/>
              </a:defRPr>
            </a:pPr>
            <a:r>
              <a:t>P(At Risk) ≥ 0.5 → YES</a:t>
            </a:r>
            <a:br/>
            <a:r>
              <a:t>P(At Risk) &lt; 0.5 → NO</a:t>
            </a:r>
            <a:br/>
            <a:br/>
            <a:r>
              <a:t>0.5 is the classification threshold, not an input feature.</a:t>
            </a:r>
          </a:p>
        </p:txBody>
      </p:sp>
      <p:sp>
        <p:nvSpPr>
          <p:cNvPr id="38" name="Rectangle 37"/>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7. Practical ML Implementation</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Key code used to train, predict and evaluate the model.</a:t>
            </a:r>
          </a:p>
        </p:txBody>
      </p:sp>
      <p:sp>
        <p:nvSpPr>
          <p:cNvPr id="5" name="Rounded Rectangle 4"/>
          <p:cNvSpPr/>
          <p:nvPr/>
        </p:nvSpPr>
        <p:spPr>
          <a:xfrm>
            <a:off x="594360" y="1143000"/>
            <a:ext cx="5532120" cy="2331720"/>
          </a:xfrm>
          <a:prstGeom prst="roundRect">
            <a:avLst/>
          </a:prstGeom>
          <a:solidFill>
            <a:srgbClr val="1E232D"/>
          </a:solidFill>
          <a:ln>
            <a:solidFill>
              <a:srgbClr val="373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234440"/>
            <a:ext cx="5212080" cy="237744"/>
          </a:xfrm>
          <a:prstGeom prst="rect">
            <a:avLst/>
          </a:prstGeom>
          <a:noFill/>
        </p:spPr>
        <p:txBody>
          <a:bodyPr wrap="square" anchor="t" lIns="18288" rIns="18288" tIns="18288" bIns="18288">
            <a:spAutoFit/>
          </a:bodyPr>
          <a:lstStyle/>
          <a:p>
            <a:pPr algn="l">
              <a:defRPr sz="1100" b="1">
                <a:solidFill>
                  <a:srgbClr val="C2CDDB"/>
                </a:solidFill>
                <a:latin typeface="Aptos"/>
              </a:defRPr>
            </a:pPr>
            <a:r>
              <a:t>Prepare X and y</a:t>
            </a:r>
          </a:p>
        </p:txBody>
      </p:sp>
      <p:sp>
        <p:nvSpPr>
          <p:cNvPr id="7" name="TextBox 6"/>
          <p:cNvSpPr txBox="1"/>
          <p:nvPr/>
        </p:nvSpPr>
        <p:spPr>
          <a:xfrm>
            <a:off x="758952" y="1527048"/>
            <a:ext cx="5212080" cy="1892807"/>
          </a:xfrm>
          <a:prstGeom prst="rect">
            <a:avLst/>
          </a:prstGeom>
          <a:noFill/>
        </p:spPr>
        <p:txBody>
          <a:bodyPr wrap="square">
            <a:spAutoFit/>
          </a:bodyPr>
          <a:lstStyle/>
          <a:p>
            <a:pPr>
              <a:defRPr sz="1030">
                <a:solidFill>
                  <a:srgbClr val="FFFFFF"/>
                </a:solidFill>
                <a:latin typeface="Consolas"/>
              </a:defRPr>
            </a:pPr>
            <a:r>
              <a:t>features = [</a:t>
            </a:r>
            <a:br/>
            <a:r>
              <a:t> "Attendance_Percentage", "Previous_Grades",</a:t>
            </a:r>
            <a:br/>
            <a:r>
              <a:t> "Assignment_Performance", "Internal_Marks",</a:t>
            </a:r>
            <a:br/>
            <a:r>
              <a:t> "Participation_Score", "Backlog_Subjects"</a:t>
            </a:r>
            <a:br/>
            <a:r>
              <a:t>]</a:t>
            </a:r>
            <a:br/>
            <a:br/>
            <a:r>
              <a:t>X = df[features]</a:t>
            </a:r>
            <a:br/>
            <a:r>
              <a:t>y = df["At_Risk"].map({"No": 0, "Yes": 1})</a:t>
            </a:r>
          </a:p>
        </p:txBody>
      </p:sp>
      <p:sp>
        <p:nvSpPr>
          <p:cNvPr id="8" name="Rounded Rectangle 7"/>
          <p:cNvSpPr/>
          <p:nvPr/>
        </p:nvSpPr>
        <p:spPr>
          <a:xfrm>
            <a:off x="6355080" y="1143000"/>
            <a:ext cx="5257800" cy="2331720"/>
          </a:xfrm>
          <a:prstGeom prst="roundRect">
            <a:avLst/>
          </a:prstGeom>
          <a:solidFill>
            <a:srgbClr val="1E232D"/>
          </a:solidFill>
          <a:ln>
            <a:solidFill>
              <a:srgbClr val="373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234440"/>
            <a:ext cx="4937760" cy="237744"/>
          </a:xfrm>
          <a:prstGeom prst="rect">
            <a:avLst/>
          </a:prstGeom>
          <a:noFill/>
        </p:spPr>
        <p:txBody>
          <a:bodyPr wrap="square" anchor="t" lIns="18288" rIns="18288" tIns="18288" bIns="18288">
            <a:spAutoFit/>
          </a:bodyPr>
          <a:lstStyle/>
          <a:p>
            <a:pPr algn="l">
              <a:defRPr sz="1100" b="1">
                <a:solidFill>
                  <a:srgbClr val="C2CDDB"/>
                </a:solidFill>
                <a:latin typeface="Aptos"/>
              </a:defRPr>
            </a:pPr>
            <a:r>
              <a:t>Train the model</a:t>
            </a:r>
          </a:p>
        </p:txBody>
      </p:sp>
      <p:sp>
        <p:nvSpPr>
          <p:cNvPr id="10" name="TextBox 9"/>
          <p:cNvSpPr txBox="1"/>
          <p:nvPr/>
        </p:nvSpPr>
        <p:spPr>
          <a:xfrm>
            <a:off x="6519672" y="1527048"/>
            <a:ext cx="4937760" cy="1892807"/>
          </a:xfrm>
          <a:prstGeom prst="rect">
            <a:avLst/>
          </a:prstGeom>
          <a:noFill/>
        </p:spPr>
        <p:txBody>
          <a:bodyPr wrap="square">
            <a:spAutoFit/>
          </a:bodyPr>
          <a:lstStyle/>
          <a:p>
            <a:pPr>
              <a:defRPr sz="965">
                <a:solidFill>
                  <a:srgbClr val="FFFFFF"/>
                </a:solidFill>
                <a:latin typeface="Consolas"/>
              </a:defRPr>
            </a:pPr>
            <a:r>
              <a:t>X_train, X_test, y_train, y_test = train_test_split(</a:t>
            </a:r>
            <a:br/>
            <a:r>
              <a:t>    X, y, test_size=0.20, stratify=y, random_state=42</a:t>
            </a:r>
            <a:br/>
            <a:r>
              <a:t>)</a:t>
            </a:r>
            <a:br/>
            <a:br/>
            <a:r>
              <a:t>scaler = StandardScaler()</a:t>
            </a:r>
            <a:br/>
            <a:r>
              <a:t>X_train_scaled = scaler.fit_transform(X_train)</a:t>
            </a:r>
            <a:br/>
            <a:r>
              <a:t>X_test_scaled = scaler.transform(X_test)</a:t>
            </a:r>
            <a:br/>
            <a:br/>
            <a:r>
              <a:t>model = LogisticRegression(random_state=42)</a:t>
            </a:r>
            <a:br/>
            <a:r>
              <a:t>model.fit(X_train_scaled, y_train)</a:t>
            </a:r>
          </a:p>
        </p:txBody>
      </p:sp>
      <p:sp>
        <p:nvSpPr>
          <p:cNvPr id="11" name="Rounded Rectangle 10"/>
          <p:cNvSpPr/>
          <p:nvPr/>
        </p:nvSpPr>
        <p:spPr>
          <a:xfrm>
            <a:off x="594360" y="3703320"/>
            <a:ext cx="5532120" cy="1874519"/>
          </a:xfrm>
          <a:prstGeom prst="roundRect">
            <a:avLst/>
          </a:prstGeom>
          <a:solidFill>
            <a:srgbClr val="1E232D"/>
          </a:solidFill>
          <a:ln>
            <a:solidFill>
              <a:srgbClr val="373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794759"/>
            <a:ext cx="5212080" cy="237744"/>
          </a:xfrm>
          <a:prstGeom prst="rect">
            <a:avLst/>
          </a:prstGeom>
          <a:noFill/>
        </p:spPr>
        <p:txBody>
          <a:bodyPr wrap="square" anchor="t" lIns="18288" rIns="18288" tIns="18288" bIns="18288">
            <a:spAutoFit/>
          </a:bodyPr>
          <a:lstStyle/>
          <a:p>
            <a:pPr algn="l">
              <a:defRPr sz="1100" b="1">
                <a:solidFill>
                  <a:srgbClr val="C2CDDB"/>
                </a:solidFill>
                <a:latin typeface="Aptos"/>
              </a:defRPr>
            </a:pPr>
            <a:r>
              <a:t>Predict + evaluate</a:t>
            </a:r>
          </a:p>
        </p:txBody>
      </p:sp>
      <p:sp>
        <p:nvSpPr>
          <p:cNvPr id="13" name="TextBox 12"/>
          <p:cNvSpPr txBox="1"/>
          <p:nvPr/>
        </p:nvSpPr>
        <p:spPr>
          <a:xfrm>
            <a:off x="758952" y="4087368"/>
            <a:ext cx="5212080" cy="1435607"/>
          </a:xfrm>
          <a:prstGeom prst="rect">
            <a:avLst/>
          </a:prstGeom>
          <a:noFill/>
        </p:spPr>
        <p:txBody>
          <a:bodyPr wrap="square">
            <a:spAutoFit/>
          </a:bodyPr>
          <a:lstStyle/>
          <a:p>
            <a:pPr>
              <a:defRPr sz="1000">
                <a:solidFill>
                  <a:srgbClr val="FFFFFF"/>
                </a:solidFill>
                <a:latin typeface="Consolas"/>
              </a:defRPr>
            </a:pPr>
            <a:r>
              <a:t>y_pred = model.predict(X_test_scaled)</a:t>
            </a:r>
            <a:br/>
            <a:r>
              <a:t>y_prob = model.predict_proba(X_test_scaled)[:, 1]</a:t>
            </a:r>
            <a:br/>
            <a:br/>
            <a:r>
              <a:t>accuracy  = accuracy_score(y_test, y_pred)</a:t>
            </a:r>
            <a:br/>
            <a:r>
              <a:t>precision = precision_score(y_test, y_pred)</a:t>
            </a:r>
            <a:br/>
            <a:r>
              <a:t>recall    = recall_score(y_test, y_pred)</a:t>
            </a:r>
            <a:br/>
            <a:r>
              <a:t>f1        = f1_score(y_test, y_pred)</a:t>
            </a:r>
          </a:p>
        </p:txBody>
      </p:sp>
      <p:sp>
        <p:nvSpPr>
          <p:cNvPr id="14" name="Rounded Rectangle 13"/>
          <p:cNvSpPr/>
          <p:nvPr/>
        </p:nvSpPr>
        <p:spPr>
          <a:xfrm>
            <a:off x="6355080" y="3703320"/>
            <a:ext cx="5257800" cy="1874519"/>
          </a:xfrm>
          <a:prstGeom prst="roundRect">
            <a:avLst/>
          </a:prstGeom>
          <a:solidFill>
            <a:srgbClr val="F9EAEA"/>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55080" y="3703320"/>
            <a:ext cx="64008" cy="1874519"/>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840480"/>
            <a:ext cx="493776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Implementation note</a:t>
            </a:r>
          </a:p>
        </p:txBody>
      </p:sp>
      <p:sp>
        <p:nvSpPr>
          <p:cNvPr id="17" name="TextBox 16"/>
          <p:cNvSpPr txBox="1"/>
          <p:nvPr/>
        </p:nvSpPr>
        <p:spPr>
          <a:xfrm>
            <a:off x="6537960" y="4270248"/>
            <a:ext cx="4937760" cy="1179575"/>
          </a:xfrm>
          <a:prstGeom prst="rect">
            <a:avLst/>
          </a:prstGeom>
          <a:noFill/>
        </p:spPr>
        <p:txBody>
          <a:bodyPr wrap="square" anchor="t" lIns="18288" rIns="18288" tIns="18288" bIns="18288">
            <a:spAutoFit/>
          </a:bodyPr>
          <a:lstStyle/>
          <a:p>
            <a:pPr algn="l">
              <a:defRPr sz="1470" b="0">
                <a:solidFill>
                  <a:srgbClr val="232A33"/>
                </a:solidFill>
                <a:latin typeface="Aptos"/>
              </a:defRPr>
            </a:pPr>
            <a:r>
              <a:t>The scaler is fitted only on training data to avoid test-set leakage. The model uses only the six academic features; there is no Risk_Score column.</a:t>
            </a:r>
          </a:p>
        </p:txBody>
      </p:sp>
      <p:sp>
        <p:nvSpPr>
          <p:cNvPr id="18" name="Rectangle 17"/>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8. Performance Evaluation</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Results from the 200-record synthetic test split.</a:t>
            </a:r>
          </a:p>
        </p:txBody>
      </p:sp>
      <p:sp>
        <p:nvSpPr>
          <p:cNvPr id="5" name="Rounded Rectangle 4"/>
          <p:cNvSpPr/>
          <p:nvPr/>
        </p:nvSpPr>
        <p:spPr>
          <a:xfrm>
            <a:off x="594360" y="1143000"/>
            <a:ext cx="242316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43000"/>
            <a:ext cx="2423160" cy="73152"/>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307592"/>
            <a:ext cx="2276856" cy="438912"/>
          </a:xfrm>
          <a:prstGeom prst="rect">
            <a:avLst/>
          </a:prstGeom>
          <a:noFill/>
        </p:spPr>
        <p:txBody>
          <a:bodyPr wrap="square" anchor="t" lIns="18288" rIns="18288" tIns="18288" bIns="18288">
            <a:spAutoFit/>
          </a:bodyPr>
          <a:lstStyle/>
          <a:p>
            <a:pPr algn="ctr">
              <a:defRPr sz="2500" b="1">
                <a:solidFill>
                  <a:srgbClr val="2B5C91"/>
                </a:solidFill>
                <a:latin typeface="Aptos"/>
              </a:defRPr>
            </a:pPr>
            <a:r>
              <a:t>88.50%</a:t>
            </a:r>
          </a:p>
        </p:txBody>
      </p:sp>
      <p:sp>
        <p:nvSpPr>
          <p:cNvPr id="8" name="TextBox 7"/>
          <p:cNvSpPr txBox="1"/>
          <p:nvPr/>
        </p:nvSpPr>
        <p:spPr>
          <a:xfrm>
            <a:off x="667512" y="1783080"/>
            <a:ext cx="2276856" cy="256032"/>
          </a:xfrm>
          <a:prstGeom prst="rect">
            <a:avLst/>
          </a:prstGeom>
          <a:noFill/>
        </p:spPr>
        <p:txBody>
          <a:bodyPr wrap="square" anchor="t" lIns="18288" rIns="18288" tIns="18288" bIns="18288">
            <a:spAutoFit/>
          </a:bodyPr>
          <a:lstStyle/>
          <a:p>
            <a:pPr algn="ctr">
              <a:defRPr sz="1200" b="1">
                <a:solidFill>
                  <a:srgbClr val="132037"/>
                </a:solidFill>
                <a:latin typeface="Aptos"/>
              </a:defRPr>
            </a:pPr>
            <a:r>
              <a:t>Accuracy</a:t>
            </a:r>
          </a:p>
        </p:txBody>
      </p:sp>
      <p:sp>
        <p:nvSpPr>
          <p:cNvPr id="9" name="Rounded Rectangle 8"/>
          <p:cNvSpPr/>
          <p:nvPr/>
        </p:nvSpPr>
        <p:spPr>
          <a:xfrm>
            <a:off x="3154680" y="1143000"/>
            <a:ext cx="242316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54680" y="1143000"/>
            <a:ext cx="2423160" cy="73152"/>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27832" y="1307592"/>
            <a:ext cx="2276856" cy="438912"/>
          </a:xfrm>
          <a:prstGeom prst="rect">
            <a:avLst/>
          </a:prstGeom>
          <a:noFill/>
        </p:spPr>
        <p:txBody>
          <a:bodyPr wrap="square" anchor="t" lIns="18288" rIns="18288" tIns="18288" bIns="18288">
            <a:spAutoFit/>
          </a:bodyPr>
          <a:lstStyle/>
          <a:p>
            <a:pPr algn="ctr">
              <a:defRPr sz="2500" b="1">
                <a:solidFill>
                  <a:srgbClr val="268B91"/>
                </a:solidFill>
                <a:latin typeface="Aptos"/>
              </a:defRPr>
            </a:pPr>
            <a:r>
              <a:t>87.38%</a:t>
            </a:r>
          </a:p>
        </p:txBody>
      </p:sp>
      <p:sp>
        <p:nvSpPr>
          <p:cNvPr id="12" name="TextBox 11"/>
          <p:cNvSpPr txBox="1"/>
          <p:nvPr/>
        </p:nvSpPr>
        <p:spPr>
          <a:xfrm>
            <a:off x="3227832" y="1783080"/>
            <a:ext cx="2276856" cy="256032"/>
          </a:xfrm>
          <a:prstGeom prst="rect">
            <a:avLst/>
          </a:prstGeom>
          <a:noFill/>
        </p:spPr>
        <p:txBody>
          <a:bodyPr wrap="square" anchor="t" lIns="18288" rIns="18288" tIns="18288" bIns="18288">
            <a:spAutoFit/>
          </a:bodyPr>
          <a:lstStyle/>
          <a:p>
            <a:pPr algn="ctr">
              <a:defRPr sz="1200" b="1">
                <a:solidFill>
                  <a:srgbClr val="132037"/>
                </a:solidFill>
                <a:latin typeface="Aptos"/>
              </a:defRPr>
            </a:pPr>
            <a:r>
              <a:t>Precision</a:t>
            </a:r>
          </a:p>
        </p:txBody>
      </p:sp>
      <p:sp>
        <p:nvSpPr>
          <p:cNvPr id="13" name="Rounded Rectangle 12"/>
          <p:cNvSpPr/>
          <p:nvPr/>
        </p:nvSpPr>
        <p:spPr>
          <a:xfrm>
            <a:off x="5715000" y="1143000"/>
            <a:ext cx="242316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15000" y="1143000"/>
            <a:ext cx="2423160" cy="73152"/>
          </a:xfrm>
          <a:prstGeom prst="rect">
            <a:avLst/>
          </a:prstGeom>
          <a:solidFill>
            <a:srgbClr val="D37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88152" y="1307592"/>
            <a:ext cx="2276856" cy="438912"/>
          </a:xfrm>
          <a:prstGeom prst="rect">
            <a:avLst/>
          </a:prstGeom>
          <a:noFill/>
        </p:spPr>
        <p:txBody>
          <a:bodyPr wrap="square" anchor="t" lIns="18288" rIns="18288" tIns="18288" bIns="18288">
            <a:spAutoFit/>
          </a:bodyPr>
          <a:lstStyle/>
          <a:p>
            <a:pPr algn="ctr">
              <a:defRPr sz="2500" b="1">
                <a:solidFill>
                  <a:srgbClr val="D37E2A"/>
                </a:solidFill>
                <a:latin typeface="Aptos"/>
              </a:defRPr>
            </a:pPr>
            <a:r>
              <a:t>90.00%</a:t>
            </a:r>
          </a:p>
        </p:txBody>
      </p:sp>
      <p:sp>
        <p:nvSpPr>
          <p:cNvPr id="16" name="TextBox 15"/>
          <p:cNvSpPr txBox="1"/>
          <p:nvPr/>
        </p:nvSpPr>
        <p:spPr>
          <a:xfrm>
            <a:off x="5788152" y="1783080"/>
            <a:ext cx="2276856" cy="256032"/>
          </a:xfrm>
          <a:prstGeom prst="rect">
            <a:avLst/>
          </a:prstGeom>
          <a:noFill/>
        </p:spPr>
        <p:txBody>
          <a:bodyPr wrap="square" anchor="t" lIns="18288" rIns="18288" tIns="18288" bIns="18288">
            <a:spAutoFit/>
          </a:bodyPr>
          <a:lstStyle/>
          <a:p>
            <a:pPr algn="ctr">
              <a:defRPr sz="1200" b="1">
                <a:solidFill>
                  <a:srgbClr val="132037"/>
                </a:solidFill>
                <a:latin typeface="Aptos"/>
              </a:defRPr>
            </a:pPr>
            <a:r>
              <a:t>Recall</a:t>
            </a:r>
          </a:p>
        </p:txBody>
      </p:sp>
      <p:sp>
        <p:nvSpPr>
          <p:cNvPr id="17" name="Rounded Rectangle 16"/>
          <p:cNvSpPr/>
          <p:nvPr/>
        </p:nvSpPr>
        <p:spPr>
          <a:xfrm>
            <a:off x="8275320" y="1143000"/>
            <a:ext cx="242316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1143000"/>
            <a:ext cx="2423160" cy="73152"/>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2" y="1307592"/>
            <a:ext cx="2276856" cy="438912"/>
          </a:xfrm>
          <a:prstGeom prst="rect">
            <a:avLst/>
          </a:prstGeom>
          <a:noFill/>
        </p:spPr>
        <p:txBody>
          <a:bodyPr wrap="square" anchor="t" lIns="18288" rIns="18288" tIns="18288" bIns="18288">
            <a:spAutoFit/>
          </a:bodyPr>
          <a:lstStyle/>
          <a:p>
            <a:pPr algn="ctr">
              <a:defRPr sz="2500" b="1">
                <a:solidFill>
                  <a:srgbClr val="AE4343"/>
                </a:solidFill>
                <a:latin typeface="Aptos"/>
              </a:defRPr>
            </a:pPr>
            <a:r>
              <a:t>88.67%</a:t>
            </a:r>
          </a:p>
        </p:txBody>
      </p:sp>
      <p:sp>
        <p:nvSpPr>
          <p:cNvPr id="20" name="TextBox 19"/>
          <p:cNvSpPr txBox="1"/>
          <p:nvPr/>
        </p:nvSpPr>
        <p:spPr>
          <a:xfrm>
            <a:off x="8348472" y="1783080"/>
            <a:ext cx="2276856" cy="256032"/>
          </a:xfrm>
          <a:prstGeom prst="rect">
            <a:avLst/>
          </a:prstGeom>
          <a:noFill/>
        </p:spPr>
        <p:txBody>
          <a:bodyPr wrap="square" anchor="t" lIns="18288" rIns="18288" tIns="18288" bIns="18288">
            <a:spAutoFit/>
          </a:bodyPr>
          <a:lstStyle/>
          <a:p>
            <a:pPr algn="ctr">
              <a:defRPr sz="1200" b="1">
                <a:solidFill>
                  <a:srgbClr val="132037"/>
                </a:solidFill>
                <a:latin typeface="Aptos"/>
              </a:defRPr>
            </a:pPr>
            <a:r>
              <a:t>F1 Score</a:t>
            </a:r>
          </a:p>
        </p:txBody>
      </p:sp>
      <p:sp>
        <p:nvSpPr>
          <p:cNvPr id="21" name="TextBox 20"/>
          <p:cNvSpPr txBox="1"/>
          <p:nvPr/>
        </p:nvSpPr>
        <p:spPr>
          <a:xfrm>
            <a:off x="640080" y="2761488"/>
            <a:ext cx="2743200" cy="320040"/>
          </a:xfrm>
          <a:prstGeom prst="rect">
            <a:avLst/>
          </a:prstGeom>
          <a:noFill/>
        </p:spPr>
        <p:txBody>
          <a:bodyPr wrap="none">
            <a:spAutoFit/>
          </a:bodyPr>
          <a:lstStyle/>
          <a:p>
            <a:pPr>
              <a:defRPr sz="1800" b="1">
                <a:solidFill>
                  <a:srgbClr val="132037"/>
                </a:solidFill>
                <a:latin typeface="Aptos Display"/>
              </a:defRPr>
            </a:pPr>
            <a:r>
              <a:t>Confusion Matrix</a:t>
            </a:r>
          </a:p>
        </p:txBody>
      </p:sp>
      <p:sp>
        <p:nvSpPr>
          <p:cNvPr id="22" name="Rectangle 21"/>
          <p:cNvSpPr/>
          <p:nvPr/>
        </p:nvSpPr>
        <p:spPr>
          <a:xfrm>
            <a:off x="731520" y="3200400"/>
            <a:ext cx="1417320" cy="585216"/>
          </a:xfrm>
          <a:prstGeom prst="rect">
            <a:avLst/>
          </a:prstGeom>
          <a:solidFill>
            <a:srgbClr val="132037"/>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282696"/>
            <a:ext cx="1380744" cy="512064"/>
          </a:xfrm>
          <a:prstGeom prst="rect">
            <a:avLst/>
          </a:prstGeom>
          <a:noFill/>
        </p:spPr>
        <p:txBody>
          <a:bodyPr wrap="none">
            <a:spAutoFit/>
          </a:bodyPr>
          <a:lstStyle/>
          <a:p>
            <a:pPr algn="ctr">
              <a:defRPr sz="1019" b="1">
                <a:solidFill>
                  <a:srgbClr val="FFFFFF"/>
                </a:solidFill>
                <a:latin typeface="Aptos"/>
              </a:defRPr>
            </a:pPr>
          </a:p>
        </p:txBody>
      </p:sp>
      <p:sp>
        <p:nvSpPr>
          <p:cNvPr id="24" name="Rectangle 23"/>
          <p:cNvSpPr/>
          <p:nvPr/>
        </p:nvSpPr>
        <p:spPr>
          <a:xfrm>
            <a:off x="2148840" y="3200400"/>
            <a:ext cx="1417320" cy="585216"/>
          </a:xfrm>
          <a:prstGeom prst="rect">
            <a:avLst/>
          </a:prstGeom>
          <a:solidFill>
            <a:srgbClr val="132037"/>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67128" y="3282696"/>
            <a:ext cx="1380744" cy="512064"/>
          </a:xfrm>
          <a:prstGeom prst="rect">
            <a:avLst/>
          </a:prstGeom>
          <a:noFill/>
        </p:spPr>
        <p:txBody>
          <a:bodyPr wrap="none">
            <a:spAutoFit/>
          </a:bodyPr>
          <a:lstStyle/>
          <a:p>
            <a:pPr algn="ctr">
              <a:defRPr sz="1019" b="1">
                <a:solidFill>
                  <a:srgbClr val="FFFFFF"/>
                </a:solidFill>
                <a:latin typeface="Aptos"/>
              </a:defRPr>
            </a:pPr>
            <a:r>
              <a:t>Pred. No</a:t>
            </a:r>
          </a:p>
        </p:txBody>
      </p:sp>
      <p:sp>
        <p:nvSpPr>
          <p:cNvPr id="26" name="Rectangle 25"/>
          <p:cNvSpPr/>
          <p:nvPr/>
        </p:nvSpPr>
        <p:spPr>
          <a:xfrm>
            <a:off x="3566160" y="3200400"/>
            <a:ext cx="1417320" cy="585216"/>
          </a:xfrm>
          <a:prstGeom prst="rect">
            <a:avLst/>
          </a:prstGeom>
          <a:solidFill>
            <a:srgbClr val="132037"/>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84448" y="3282696"/>
            <a:ext cx="1380744" cy="512064"/>
          </a:xfrm>
          <a:prstGeom prst="rect">
            <a:avLst/>
          </a:prstGeom>
          <a:noFill/>
        </p:spPr>
        <p:txBody>
          <a:bodyPr wrap="none">
            <a:spAutoFit/>
          </a:bodyPr>
          <a:lstStyle/>
          <a:p>
            <a:pPr algn="ctr">
              <a:defRPr sz="1019" b="1">
                <a:solidFill>
                  <a:srgbClr val="FFFFFF"/>
                </a:solidFill>
                <a:latin typeface="Aptos"/>
              </a:defRPr>
            </a:pPr>
            <a:r>
              <a:t>Pred. Yes</a:t>
            </a:r>
          </a:p>
        </p:txBody>
      </p:sp>
      <p:sp>
        <p:nvSpPr>
          <p:cNvPr id="28" name="Rectangle 27"/>
          <p:cNvSpPr/>
          <p:nvPr/>
        </p:nvSpPr>
        <p:spPr>
          <a:xfrm>
            <a:off x="731520" y="3785615"/>
            <a:ext cx="1417320" cy="585216"/>
          </a:xfrm>
          <a:prstGeom prst="rect">
            <a:avLst/>
          </a:prstGeom>
          <a:solidFill>
            <a:srgbClr val="132037"/>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867911"/>
            <a:ext cx="1380744" cy="512064"/>
          </a:xfrm>
          <a:prstGeom prst="rect">
            <a:avLst/>
          </a:prstGeom>
          <a:noFill/>
        </p:spPr>
        <p:txBody>
          <a:bodyPr wrap="none">
            <a:spAutoFit/>
          </a:bodyPr>
          <a:lstStyle/>
          <a:p>
            <a:pPr algn="ctr">
              <a:defRPr sz="1019" b="1">
                <a:solidFill>
                  <a:srgbClr val="FFFFFF"/>
                </a:solidFill>
                <a:latin typeface="Aptos"/>
              </a:defRPr>
            </a:pPr>
            <a:r>
              <a:t>Actual No</a:t>
            </a:r>
          </a:p>
        </p:txBody>
      </p:sp>
      <p:sp>
        <p:nvSpPr>
          <p:cNvPr id="30" name="Rectangle 29"/>
          <p:cNvSpPr/>
          <p:nvPr/>
        </p:nvSpPr>
        <p:spPr>
          <a:xfrm>
            <a:off x="2148840" y="3785615"/>
            <a:ext cx="1417320" cy="585216"/>
          </a:xfrm>
          <a:prstGeom prst="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67128" y="3867911"/>
            <a:ext cx="1380744" cy="512064"/>
          </a:xfrm>
          <a:prstGeom prst="rect">
            <a:avLst/>
          </a:prstGeom>
          <a:noFill/>
        </p:spPr>
        <p:txBody>
          <a:bodyPr wrap="none">
            <a:spAutoFit/>
          </a:bodyPr>
          <a:lstStyle/>
          <a:p>
            <a:pPr algn="ctr">
              <a:defRPr sz="1200" b="0">
                <a:solidFill>
                  <a:srgbClr val="232A33"/>
                </a:solidFill>
                <a:latin typeface="Aptos"/>
              </a:defRPr>
            </a:pPr>
            <a:r>
              <a:t>TN = 87</a:t>
            </a:r>
          </a:p>
        </p:txBody>
      </p:sp>
      <p:sp>
        <p:nvSpPr>
          <p:cNvPr id="32" name="Rectangle 31"/>
          <p:cNvSpPr/>
          <p:nvPr/>
        </p:nvSpPr>
        <p:spPr>
          <a:xfrm>
            <a:off x="3566160" y="3785615"/>
            <a:ext cx="1417320" cy="585216"/>
          </a:xfrm>
          <a:prstGeom prst="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84448" y="3867911"/>
            <a:ext cx="1380744" cy="512064"/>
          </a:xfrm>
          <a:prstGeom prst="rect">
            <a:avLst/>
          </a:prstGeom>
          <a:noFill/>
        </p:spPr>
        <p:txBody>
          <a:bodyPr wrap="none">
            <a:spAutoFit/>
          </a:bodyPr>
          <a:lstStyle/>
          <a:p>
            <a:pPr algn="ctr">
              <a:defRPr sz="1200" b="0">
                <a:solidFill>
                  <a:srgbClr val="232A33"/>
                </a:solidFill>
                <a:latin typeface="Aptos"/>
              </a:defRPr>
            </a:pPr>
            <a:r>
              <a:t>FP = 13</a:t>
            </a:r>
          </a:p>
        </p:txBody>
      </p:sp>
      <p:sp>
        <p:nvSpPr>
          <p:cNvPr id="34" name="Rectangle 33"/>
          <p:cNvSpPr/>
          <p:nvPr/>
        </p:nvSpPr>
        <p:spPr>
          <a:xfrm>
            <a:off x="731520" y="4370832"/>
            <a:ext cx="1417320" cy="585216"/>
          </a:xfrm>
          <a:prstGeom prst="rect">
            <a:avLst/>
          </a:prstGeom>
          <a:solidFill>
            <a:srgbClr val="132037"/>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4453128"/>
            <a:ext cx="1380744" cy="512064"/>
          </a:xfrm>
          <a:prstGeom prst="rect">
            <a:avLst/>
          </a:prstGeom>
          <a:noFill/>
        </p:spPr>
        <p:txBody>
          <a:bodyPr wrap="none">
            <a:spAutoFit/>
          </a:bodyPr>
          <a:lstStyle/>
          <a:p>
            <a:pPr algn="ctr">
              <a:defRPr sz="1019" b="1">
                <a:solidFill>
                  <a:srgbClr val="FFFFFF"/>
                </a:solidFill>
                <a:latin typeface="Aptos"/>
              </a:defRPr>
            </a:pPr>
            <a:r>
              <a:t>Actual Yes</a:t>
            </a:r>
          </a:p>
        </p:txBody>
      </p:sp>
      <p:sp>
        <p:nvSpPr>
          <p:cNvPr id="36" name="Rectangle 35"/>
          <p:cNvSpPr/>
          <p:nvPr/>
        </p:nvSpPr>
        <p:spPr>
          <a:xfrm>
            <a:off x="2148840" y="4370832"/>
            <a:ext cx="1417320" cy="585216"/>
          </a:xfrm>
          <a:prstGeom prst="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67128" y="4453128"/>
            <a:ext cx="1380744" cy="512064"/>
          </a:xfrm>
          <a:prstGeom prst="rect">
            <a:avLst/>
          </a:prstGeom>
          <a:noFill/>
        </p:spPr>
        <p:txBody>
          <a:bodyPr wrap="none">
            <a:spAutoFit/>
          </a:bodyPr>
          <a:lstStyle/>
          <a:p>
            <a:pPr algn="ctr">
              <a:defRPr sz="1200" b="0">
                <a:solidFill>
                  <a:srgbClr val="232A33"/>
                </a:solidFill>
                <a:latin typeface="Aptos"/>
              </a:defRPr>
            </a:pPr>
            <a:r>
              <a:t>FN = 10</a:t>
            </a:r>
          </a:p>
        </p:txBody>
      </p:sp>
      <p:sp>
        <p:nvSpPr>
          <p:cNvPr id="38" name="Rectangle 37"/>
          <p:cNvSpPr/>
          <p:nvPr/>
        </p:nvSpPr>
        <p:spPr>
          <a:xfrm>
            <a:off x="3566160" y="4370832"/>
            <a:ext cx="1417320" cy="585216"/>
          </a:xfrm>
          <a:prstGeom prst="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84448" y="4453128"/>
            <a:ext cx="1380744" cy="512064"/>
          </a:xfrm>
          <a:prstGeom prst="rect">
            <a:avLst/>
          </a:prstGeom>
          <a:noFill/>
        </p:spPr>
        <p:txBody>
          <a:bodyPr wrap="none">
            <a:spAutoFit/>
          </a:bodyPr>
          <a:lstStyle/>
          <a:p>
            <a:pPr algn="ctr">
              <a:defRPr sz="1200" b="0">
                <a:solidFill>
                  <a:srgbClr val="232A33"/>
                </a:solidFill>
                <a:latin typeface="Aptos"/>
              </a:defRPr>
            </a:pPr>
            <a:r>
              <a:t>TP = 90</a:t>
            </a:r>
          </a:p>
        </p:txBody>
      </p:sp>
      <p:sp>
        <p:nvSpPr>
          <p:cNvPr id="40" name="Rounded Rectangle 39"/>
          <p:cNvSpPr/>
          <p:nvPr/>
        </p:nvSpPr>
        <p:spPr>
          <a:xfrm>
            <a:off x="5257800" y="2788920"/>
            <a:ext cx="6172200" cy="210312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257800" y="2788920"/>
            <a:ext cx="64008" cy="2103120"/>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40680" y="2926079"/>
            <a:ext cx="585216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Metric calculations</a:t>
            </a:r>
          </a:p>
        </p:txBody>
      </p:sp>
      <p:sp>
        <p:nvSpPr>
          <p:cNvPr id="43" name="TextBox 42"/>
          <p:cNvSpPr txBox="1"/>
          <p:nvPr/>
        </p:nvSpPr>
        <p:spPr>
          <a:xfrm>
            <a:off x="5440680" y="3355848"/>
            <a:ext cx="5852160" cy="1408175"/>
          </a:xfrm>
          <a:prstGeom prst="rect">
            <a:avLst/>
          </a:prstGeom>
          <a:noFill/>
        </p:spPr>
        <p:txBody>
          <a:bodyPr wrap="square" anchor="t" lIns="18288" rIns="18288" tIns="18288" bIns="18288">
            <a:spAutoFit/>
          </a:bodyPr>
          <a:lstStyle/>
          <a:p>
            <a:pPr algn="l">
              <a:defRPr sz="1300" b="0">
                <a:solidFill>
                  <a:srgbClr val="232A33"/>
                </a:solidFill>
                <a:latin typeface="Aptos"/>
              </a:defRPr>
            </a:pPr>
            <a:r>
              <a:t>Accuracy = (TP + TN) / 200 = (90 + 87) / 200 = 88.50%</a:t>
            </a:r>
            <a:br/>
            <a:r>
              <a:t>Precision = TP / (TP + FP) = 90 / 103 = 87.38%</a:t>
            </a:r>
            <a:br/>
            <a:r>
              <a:t>Recall = TP / (TP + FN) = 90 / 100 = 90.00%</a:t>
            </a:r>
            <a:br/>
            <a:r>
              <a:t>F1 = 2 × (Precision × Recall) / (Precision + Recall) = 88.67%</a:t>
            </a:r>
          </a:p>
        </p:txBody>
      </p:sp>
      <p:sp>
        <p:nvSpPr>
          <p:cNvPr id="44" name="TextBox 43"/>
          <p:cNvSpPr txBox="1"/>
          <p:nvPr/>
        </p:nvSpPr>
        <p:spPr>
          <a:xfrm>
            <a:off x="731520" y="5394960"/>
            <a:ext cx="10698480" cy="384048"/>
          </a:xfrm>
          <a:prstGeom prst="rect">
            <a:avLst/>
          </a:prstGeom>
          <a:noFill/>
        </p:spPr>
        <p:txBody>
          <a:bodyPr wrap="square" anchor="t" lIns="18288" rIns="18288" tIns="18288" bIns="18288">
            <a:spAutoFit/>
          </a:bodyPr>
          <a:lstStyle/>
          <a:p>
            <a:pPr algn="ctr">
              <a:defRPr sz="1200" b="1">
                <a:solidFill>
                  <a:srgbClr val="AE4343"/>
                </a:solidFill>
                <a:latin typeface="Aptos"/>
              </a:defRPr>
            </a:pPr>
            <a:r>
              <a:t>These figures are prototype test-split results, not real-world institutional performance.</a:t>
            </a:r>
          </a:p>
        </p:txBody>
      </p:sp>
      <p:sp>
        <p:nvSpPr>
          <p:cNvPr id="45" name="Rectangle 44"/>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100584"/>
            <a:ext cx="11064240" cy="420624"/>
          </a:xfrm>
          <a:prstGeom prst="rect">
            <a:avLst/>
          </a:prstGeom>
          <a:noFill/>
        </p:spPr>
        <p:txBody>
          <a:bodyPr wrap="square" lIns="18288" rIns="18288" tIns="18288" bIns="18288">
            <a:spAutoFit/>
          </a:bodyPr>
          <a:lstStyle/>
          <a:p>
            <a:pPr algn="l">
              <a:defRPr sz="2550" b="1">
                <a:solidFill>
                  <a:srgbClr val="FFFFFF"/>
                </a:solidFill>
                <a:latin typeface="Aptos"/>
              </a:defRPr>
            </a:pPr>
            <a:r>
              <a:t>9. Worked Example — How the 99.99% is Calculated</a:t>
            </a:r>
          </a:p>
        </p:txBody>
      </p:sp>
      <p:sp>
        <p:nvSpPr>
          <p:cNvPr id="4" name="TextBox 3"/>
          <p:cNvSpPr txBox="1"/>
          <p:nvPr/>
        </p:nvSpPr>
        <p:spPr>
          <a:xfrm>
            <a:off x="594360" y="749808"/>
            <a:ext cx="10972800" cy="274320"/>
          </a:xfrm>
          <a:prstGeom prst="rect">
            <a:avLst/>
          </a:prstGeom>
          <a:noFill/>
        </p:spPr>
        <p:txBody>
          <a:bodyPr wrap="square" lIns="18288" rIns="18288" tIns="18288" bIns="18288">
            <a:spAutoFit/>
          </a:bodyPr>
          <a:lstStyle/>
          <a:p>
            <a:pPr algn="l">
              <a:defRPr sz="1150" b="0">
                <a:solidFill>
                  <a:srgbClr val="646E7A"/>
                </a:solidFill>
                <a:latin typeface="Aptos"/>
              </a:defRPr>
            </a:pPr>
            <a:r>
              <a:t>The StandardScaler mean and standard deviation come from the 800 training records only.</a:t>
            </a:r>
          </a:p>
        </p:txBody>
      </p:sp>
      <p:sp>
        <p:nvSpPr>
          <p:cNvPr id="5" name="TextBox 4"/>
          <p:cNvSpPr txBox="1"/>
          <p:nvPr/>
        </p:nvSpPr>
        <p:spPr>
          <a:xfrm>
            <a:off x="502920" y="1078992"/>
            <a:ext cx="3657600" cy="274320"/>
          </a:xfrm>
          <a:prstGeom prst="rect">
            <a:avLst/>
          </a:prstGeom>
          <a:noFill/>
        </p:spPr>
        <p:txBody>
          <a:bodyPr wrap="square" lIns="18288" rIns="18288" tIns="18288" bIns="18288">
            <a:spAutoFit/>
          </a:bodyPr>
          <a:lstStyle/>
          <a:p>
            <a:pPr algn="l">
              <a:defRPr sz="1450" b="1">
                <a:solidFill>
                  <a:srgbClr val="132037"/>
                </a:solidFill>
                <a:latin typeface="Aptos"/>
              </a:defRPr>
            </a:pPr>
            <a:r>
              <a:t>1. Training-set parameters</a:t>
            </a:r>
          </a:p>
        </p:txBody>
      </p:sp>
      <p:graphicFrame>
        <p:nvGraphicFramePr>
          <p:cNvPr id="6" name="Table 5"/>
          <p:cNvGraphicFramePr>
            <a:graphicFrameLocks noGrp="1"/>
          </p:cNvGraphicFramePr>
          <p:nvPr/>
        </p:nvGraphicFramePr>
        <p:xfrm>
          <a:off x="502920" y="1389888"/>
          <a:ext cx="5486400" cy="2743200"/>
        </p:xfrm>
        <a:graphic>
          <a:graphicData uri="http://schemas.openxmlformats.org/drawingml/2006/table">
            <a:tbl>
              <a:tblPr firstRow="1" bandRow="1">
                <a:tableStyleId>{5C22544A-7EE6-4342-B048-85BDC9FD1C3A}</a:tableStyleId>
              </a:tblPr>
              <a:tblGrid>
                <a:gridCol w="3246120"/>
                <a:gridCol w="1097280"/>
                <a:gridCol w="1143000"/>
              </a:tblGrid>
              <a:tr h="391885">
                <a:tc>
                  <a:txBody>
                    <a:bodyPr/>
                    <a:lstStyle/>
                    <a:p>
                      <a:pPr algn="ctr">
                        <a:defRPr sz="1019" b="1">
                          <a:solidFill>
                            <a:srgbClr val="FFFFFF"/>
                          </a:solidFill>
                          <a:latin typeface="Aptos"/>
                        </a:defRPr>
                      </a:pPr>
                      <a:r>
                        <a:t>Feature</a:t>
                      </a:r>
                    </a:p>
                  </a:txBody>
                  <a:tcPr>
                    <a:solidFill>
                      <a:srgbClr val="132037"/>
                    </a:solidFill>
                  </a:tcPr>
                </a:tc>
                <a:tc>
                  <a:txBody>
                    <a:bodyPr/>
                    <a:lstStyle/>
                    <a:p>
                      <a:pPr algn="ctr">
                        <a:defRPr sz="1019" b="1">
                          <a:solidFill>
                            <a:srgbClr val="FFFFFF"/>
                          </a:solidFill>
                          <a:latin typeface="Aptos"/>
                        </a:defRPr>
                      </a:pPr>
                      <a:r>
                        <a:t>Mean (μ)</a:t>
                      </a:r>
                    </a:p>
                  </a:txBody>
                  <a:tcPr>
                    <a:solidFill>
                      <a:srgbClr val="132037"/>
                    </a:solidFill>
                  </a:tcPr>
                </a:tc>
                <a:tc>
                  <a:txBody>
                    <a:bodyPr/>
                    <a:lstStyle/>
                    <a:p>
                      <a:pPr algn="ctr">
                        <a:defRPr sz="1019" b="1">
                          <a:solidFill>
                            <a:srgbClr val="FFFFFF"/>
                          </a:solidFill>
                          <a:latin typeface="Aptos"/>
                        </a:defRPr>
                      </a:pPr>
                      <a:r>
                        <a:t>Std (σ)</a:t>
                      </a:r>
                    </a:p>
                  </a:txBody>
                  <a:tcPr>
                    <a:solidFill>
                      <a:srgbClr val="132037"/>
                    </a:solidFill>
                  </a:tcPr>
                </a:tc>
              </a:tr>
              <a:tr h="391885">
                <a:tc>
                  <a:txBody>
                    <a:bodyPr/>
                    <a:lstStyle/>
                    <a:p>
                      <a:pPr algn="l">
                        <a:defRPr sz="910">
                          <a:solidFill>
                            <a:srgbClr val="232A33"/>
                          </a:solidFill>
                          <a:latin typeface="Aptos"/>
                        </a:defRPr>
                      </a:pPr>
                      <a:r>
                        <a:t>Attendance</a:t>
                      </a:r>
                    </a:p>
                  </a:txBody>
                  <a:tcPr>
                    <a:solidFill>
                      <a:srgbClr val="FFFFFF"/>
                    </a:solidFill>
                  </a:tcPr>
                </a:tc>
                <a:tc>
                  <a:txBody>
                    <a:bodyPr/>
                    <a:lstStyle/>
                    <a:p>
                      <a:pPr algn="ctr">
                        <a:defRPr sz="910">
                          <a:solidFill>
                            <a:srgbClr val="232A33"/>
                          </a:solidFill>
                          <a:latin typeface="Aptos"/>
                        </a:defRPr>
                      </a:pPr>
                      <a:r>
                        <a:t>74.86225</a:t>
                      </a:r>
                    </a:p>
                  </a:txBody>
                  <a:tcPr>
                    <a:solidFill>
                      <a:srgbClr val="FFFFFF"/>
                    </a:solidFill>
                  </a:tcPr>
                </a:tc>
                <a:tc>
                  <a:txBody>
                    <a:bodyPr/>
                    <a:lstStyle/>
                    <a:p>
                      <a:pPr algn="ctr">
                        <a:defRPr sz="910">
                          <a:solidFill>
                            <a:srgbClr val="232A33"/>
                          </a:solidFill>
                          <a:latin typeface="Aptos"/>
                        </a:defRPr>
                      </a:pPr>
                      <a:r>
                        <a:t>11.58473</a:t>
                      </a:r>
                    </a:p>
                  </a:txBody>
                  <a:tcPr>
                    <a:solidFill>
                      <a:srgbClr val="FFFFFF"/>
                    </a:solidFill>
                  </a:tcPr>
                </a:tc>
              </a:tr>
              <a:tr h="391885">
                <a:tc>
                  <a:txBody>
                    <a:bodyPr/>
                    <a:lstStyle/>
                    <a:p>
                      <a:pPr algn="l">
                        <a:defRPr sz="910">
                          <a:solidFill>
                            <a:srgbClr val="232A33"/>
                          </a:solidFill>
                          <a:latin typeface="Aptos"/>
                        </a:defRPr>
                      </a:pPr>
                      <a:r>
                        <a:t>Previous Grades</a:t>
                      </a:r>
                    </a:p>
                  </a:txBody>
                  <a:tcPr>
                    <a:solidFill>
                      <a:srgbClr val="F0F4F8"/>
                    </a:solidFill>
                  </a:tcPr>
                </a:tc>
                <a:tc>
                  <a:txBody>
                    <a:bodyPr/>
                    <a:lstStyle/>
                    <a:p>
                      <a:pPr algn="ctr">
                        <a:defRPr sz="910">
                          <a:solidFill>
                            <a:srgbClr val="232A33"/>
                          </a:solidFill>
                          <a:latin typeface="Aptos"/>
                        </a:defRPr>
                      </a:pPr>
                      <a:r>
                        <a:t>63.72100</a:t>
                      </a:r>
                    </a:p>
                  </a:txBody>
                  <a:tcPr>
                    <a:solidFill>
                      <a:srgbClr val="F0F4F8"/>
                    </a:solidFill>
                  </a:tcPr>
                </a:tc>
                <a:tc>
                  <a:txBody>
                    <a:bodyPr/>
                    <a:lstStyle/>
                    <a:p>
                      <a:pPr algn="ctr">
                        <a:defRPr sz="910">
                          <a:solidFill>
                            <a:srgbClr val="232A33"/>
                          </a:solidFill>
                          <a:latin typeface="Aptos"/>
                        </a:defRPr>
                      </a:pPr>
                      <a:r>
                        <a:t>15.15947</a:t>
                      </a:r>
                    </a:p>
                  </a:txBody>
                  <a:tcPr>
                    <a:solidFill>
                      <a:srgbClr val="F0F4F8"/>
                    </a:solidFill>
                  </a:tcPr>
                </a:tc>
              </a:tr>
              <a:tr h="391885">
                <a:tc>
                  <a:txBody>
                    <a:bodyPr/>
                    <a:lstStyle/>
                    <a:p>
                      <a:pPr algn="l">
                        <a:defRPr sz="910">
                          <a:solidFill>
                            <a:srgbClr val="232A33"/>
                          </a:solidFill>
                          <a:latin typeface="Aptos"/>
                        </a:defRPr>
                      </a:pPr>
                      <a:r>
                        <a:t>Assignment Performance</a:t>
                      </a:r>
                    </a:p>
                  </a:txBody>
                  <a:tcPr>
                    <a:solidFill>
                      <a:srgbClr val="FFFFFF"/>
                    </a:solidFill>
                  </a:tcPr>
                </a:tc>
                <a:tc>
                  <a:txBody>
                    <a:bodyPr/>
                    <a:lstStyle/>
                    <a:p>
                      <a:pPr algn="ctr">
                        <a:defRPr sz="910">
                          <a:solidFill>
                            <a:srgbClr val="232A33"/>
                          </a:solidFill>
                          <a:latin typeface="Aptos"/>
                        </a:defRPr>
                      </a:pPr>
                      <a:r>
                        <a:t>68.32413</a:t>
                      </a:r>
                    </a:p>
                  </a:txBody>
                  <a:tcPr>
                    <a:solidFill>
                      <a:srgbClr val="FFFFFF"/>
                    </a:solidFill>
                  </a:tcPr>
                </a:tc>
                <a:tc>
                  <a:txBody>
                    <a:bodyPr/>
                    <a:lstStyle/>
                    <a:p>
                      <a:pPr algn="ctr">
                        <a:defRPr sz="910">
                          <a:solidFill>
                            <a:srgbClr val="232A33"/>
                          </a:solidFill>
                          <a:latin typeface="Aptos"/>
                        </a:defRPr>
                      </a:pPr>
                      <a:r>
                        <a:t>15.08191</a:t>
                      </a:r>
                    </a:p>
                  </a:txBody>
                  <a:tcPr>
                    <a:solidFill>
                      <a:srgbClr val="FFFFFF"/>
                    </a:solidFill>
                  </a:tcPr>
                </a:tc>
              </a:tr>
              <a:tr h="391885">
                <a:tc>
                  <a:txBody>
                    <a:bodyPr/>
                    <a:lstStyle/>
                    <a:p>
                      <a:pPr algn="l">
                        <a:defRPr sz="910">
                          <a:solidFill>
                            <a:srgbClr val="232A33"/>
                          </a:solidFill>
                          <a:latin typeface="Aptos"/>
                        </a:defRPr>
                      </a:pPr>
                      <a:r>
                        <a:t>Internal Marks</a:t>
                      </a:r>
                    </a:p>
                  </a:txBody>
                  <a:tcPr>
                    <a:solidFill>
                      <a:srgbClr val="F0F4F8"/>
                    </a:solidFill>
                  </a:tcPr>
                </a:tc>
                <a:tc>
                  <a:txBody>
                    <a:bodyPr/>
                    <a:lstStyle/>
                    <a:p>
                      <a:pPr algn="ctr">
                        <a:defRPr sz="910">
                          <a:solidFill>
                            <a:srgbClr val="232A33"/>
                          </a:solidFill>
                          <a:latin typeface="Aptos"/>
                        </a:defRPr>
                      </a:pPr>
                      <a:r>
                        <a:t>66.32138</a:t>
                      </a:r>
                    </a:p>
                  </a:txBody>
                  <a:tcPr>
                    <a:solidFill>
                      <a:srgbClr val="F0F4F8"/>
                    </a:solidFill>
                  </a:tcPr>
                </a:tc>
                <a:tc>
                  <a:txBody>
                    <a:bodyPr/>
                    <a:lstStyle/>
                    <a:p>
                      <a:pPr algn="ctr">
                        <a:defRPr sz="910">
                          <a:solidFill>
                            <a:srgbClr val="232A33"/>
                          </a:solidFill>
                          <a:latin typeface="Aptos"/>
                        </a:defRPr>
                      </a:pPr>
                      <a:r>
                        <a:t>13.64777</a:t>
                      </a:r>
                    </a:p>
                  </a:txBody>
                  <a:tcPr>
                    <a:solidFill>
                      <a:srgbClr val="F0F4F8"/>
                    </a:solidFill>
                  </a:tcPr>
                </a:tc>
              </a:tr>
              <a:tr h="391885">
                <a:tc>
                  <a:txBody>
                    <a:bodyPr/>
                    <a:lstStyle/>
                    <a:p>
                      <a:pPr algn="l">
                        <a:defRPr sz="910">
                          <a:solidFill>
                            <a:srgbClr val="232A33"/>
                          </a:solidFill>
                          <a:latin typeface="Aptos"/>
                        </a:defRPr>
                      </a:pPr>
                      <a:r>
                        <a:t>Participation Score</a:t>
                      </a:r>
                    </a:p>
                  </a:txBody>
                  <a:tcPr>
                    <a:solidFill>
                      <a:srgbClr val="FFFFFF"/>
                    </a:solidFill>
                  </a:tcPr>
                </a:tc>
                <a:tc>
                  <a:txBody>
                    <a:bodyPr/>
                    <a:lstStyle/>
                    <a:p>
                      <a:pPr algn="ctr">
                        <a:defRPr sz="910">
                          <a:solidFill>
                            <a:srgbClr val="232A33"/>
                          </a:solidFill>
                          <a:latin typeface="Aptos"/>
                        </a:defRPr>
                      </a:pPr>
                      <a:r>
                        <a:t>5.88125</a:t>
                      </a:r>
                    </a:p>
                  </a:txBody>
                  <a:tcPr>
                    <a:solidFill>
                      <a:srgbClr val="FFFFFF"/>
                    </a:solidFill>
                  </a:tcPr>
                </a:tc>
                <a:tc>
                  <a:txBody>
                    <a:bodyPr/>
                    <a:lstStyle/>
                    <a:p>
                      <a:pPr algn="ctr">
                        <a:defRPr sz="910">
                          <a:solidFill>
                            <a:srgbClr val="232A33"/>
                          </a:solidFill>
                          <a:latin typeface="Aptos"/>
                        </a:defRPr>
                      </a:pPr>
                      <a:r>
                        <a:t>1.95515</a:t>
                      </a:r>
                    </a:p>
                  </a:txBody>
                  <a:tcPr>
                    <a:solidFill>
                      <a:srgbClr val="FFFFFF"/>
                    </a:solidFill>
                  </a:tcPr>
                </a:tc>
              </a:tr>
              <a:tr h="391890">
                <a:tc>
                  <a:txBody>
                    <a:bodyPr/>
                    <a:lstStyle/>
                    <a:p>
                      <a:pPr algn="l">
                        <a:defRPr sz="910">
                          <a:solidFill>
                            <a:srgbClr val="232A33"/>
                          </a:solidFill>
                          <a:latin typeface="Aptos"/>
                        </a:defRPr>
                      </a:pPr>
                      <a:r>
                        <a:t>Backlog Subjects</a:t>
                      </a:r>
                    </a:p>
                  </a:txBody>
                  <a:tcPr>
                    <a:solidFill>
                      <a:srgbClr val="F0F4F8"/>
                    </a:solidFill>
                  </a:tcPr>
                </a:tc>
                <a:tc>
                  <a:txBody>
                    <a:bodyPr/>
                    <a:lstStyle/>
                    <a:p>
                      <a:pPr algn="ctr">
                        <a:defRPr sz="910">
                          <a:solidFill>
                            <a:srgbClr val="232A33"/>
                          </a:solidFill>
                          <a:latin typeface="Aptos"/>
                        </a:defRPr>
                      </a:pPr>
                      <a:r>
                        <a:t>1.17375</a:t>
                      </a:r>
                    </a:p>
                  </a:txBody>
                  <a:tcPr>
                    <a:solidFill>
                      <a:srgbClr val="F0F4F8"/>
                    </a:solidFill>
                  </a:tcPr>
                </a:tc>
                <a:tc>
                  <a:txBody>
                    <a:bodyPr/>
                    <a:lstStyle/>
                    <a:p>
                      <a:pPr algn="ctr">
                        <a:defRPr sz="910">
                          <a:solidFill>
                            <a:srgbClr val="232A33"/>
                          </a:solidFill>
                          <a:latin typeface="Aptos"/>
                        </a:defRPr>
                      </a:pPr>
                      <a:r>
                        <a:t>1.05998</a:t>
                      </a:r>
                    </a:p>
                  </a:txBody>
                  <a:tcPr>
                    <a:solidFill>
                      <a:srgbClr val="F0F4F8"/>
                    </a:solidFill>
                  </a:tcPr>
                </a:tc>
              </a:tr>
            </a:tbl>
          </a:graphicData>
        </a:graphic>
      </p:graphicFrame>
      <p:sp>
        <p:nvSpPr>
          <p:cNvPr id="7" name="Rounded Rectangle 6"/>
          <p:cNvSpPr/>
          <p:nvPr/>
        </p:nvSpPr>
        <p:spPr>
          <a:xfrm>
            <a:off x="502920" y="4315968"/>
            <a:ext cx="5486400" cy="1143000"/>
          </a:xfrm>
          <a:prstGeom prst="roundRect">
            <a:avLst/>
          </a:prstGeom>
          <a:solidFill>
            <a:srgbClr val="E7EFF8"/>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4315968"/>
            <a:ext cx="64008" cy="114300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425696"/>
            <a:ext cx="5166360" cy="320040"/>
          </a:xfrm>
          <a:prstGeom prst="rect">
            <a:avLst/>
          </a:prstGeom>
          <a:noFill/>
        </p:spPr>
        <p:txBody>
          <a:bodyPr wrap="square" lIns="18288" rIns="18288" tIns="18288" bIns="18288">
            <a:spAutoFit/>
          </a:bodyPr>
          <a:lstStyle/>
          <a:p>
            <a:pPr algn="l">
              <a:defRPr sz="1420" b="1">
                <a:solidFill>
                  <a:srgbClr val="132037"/>
                </a:solidFill>
                <a:latin typeface="Aptos"/>
              </a:defRPr>
            </a:pPr>
            <a:r>
              <a:t>2. Example student</a:t>
            </a:r>
          </a:p>
        </p:txBody>
      </p:sp>
      <p:sp>
        <p:nvSpPr>
          <p:cNvPr id="10" name="TextBox 9"/>
          <p:cNvSpPr txBox="1"/>
          <p:nvPr/>
        </p:nvSpPr>
        <p:spPr>
          <a:xfrm>
            <a:off x="685800" y="4846320"/>
            <a:ext cx="5166360" cy="484632"/>
          </a:xfrm>
          <a:prstGeom prst="rect">
            <a:avLst/>
          </a:prstGeom>
          <a:noFill/>
        </p:spPr>
        <p:txBody>
          <a:bodyPr wrap="square" lIns="18288" rIns="18288" tIns="18288" bIns="18288">
            <a:spAutoFit/>
          </a:bodyPr>
          <a:lstStyle/>
          <a:p>
            <a:pPr algn="l">
              <a:defRPr sz="1080" b="0">
                <a:solidFill>
                  <a:srgbClr val="232A33"/>
                </a:solidFill>
                <a:latin typeface="Aptos"/>
              </a:defRPr>
            </a:pPr>
            <a:r>
              <a:t>Attendance 55 | Previous Grades 45 | Assignment 48 | Internal 42 | Participation 2 | Backlogs 3</a:t>
            </a:r>
          </a:p>
        </p:txBody>
      </p:sp>
      <p:sp>
        <p:nvSpPr>
          <p:cNvPr id="11" name="TextBox 10"/>
          <p:cNvSpPr txBox="1"/>
          <p:nvPr/>
        </p:nvSpPr>
        <p:spPr>
          <a:xfrm>
            <a:off x="6263640" y="1078992"/>
            <a:ext cx="3840480" cy="274320"/>
          </a:xfrm>
          <a:prstGeom prst="rect">
            <a:avLst/>
          </a:prstGeom>
          <a:noFill/>
        </p:spPr>
        <p:txBody>
          <a:bodyPr wrap="square" lIns="18288" rIns="18288" tIns="18288" bIns="18288">
            <a:spAutoFit/>
          </a:bodyPr>
          <a:lstStyle/>
          <a:p>
            <a:pPr algn="l">
              <a:defRPr sz="1450" b="1">
                <a:solidFill>
                  <a:srgbClr val="132037"/>
                </a:solidFill>
                <a:latin typeface="Aptos"/>
              </a:defRPr>
            </a:pPr>
            <a:r>
              <a:t>3. StandardScaler calculations</a:t>
            </a:r>
          </a:p>
        </p:txBody>
      </p:sp>
      <p:sp>
        <p:nvSpPr>
          <p:cNvPr id="12" name="Rounded Rectangle 11"/>
          <p:cNvSpPr/>
          <p:nvPr/>
        </p:nvSpPr>
        <p:spPr>
          <a:xfrm>
            <a:off x="6217920" y="1389888"/>
            <a:ext cx="5440680" cy="196596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517904"/>
            <a:ext cx="5102352" cy="1709928"/>
          </a:xfrm>
          <a:prstGeom prst="rect">
            <a:avLst/>
          </a:prstGeom>
          <a:noFill/>
        </p:spPr>
        <p:txBody>
          <a:bodyPr wrap="square" lIns="18288" rIns="18288" tIns="18288" bIns="18288">
            <a:spAutoFit/>
          </a:bodyPr>
          <a:lstStyle/>
          <a:p>
            <a:pPr algn="l">
              <a:defRPr sz="915" b="0">
                <a:solidFill>
                  <a:srgbClr val="232A33"/>
                </a:solidFill>
                <a:latin typeface="Consolas"/>
              </a:defRPr>
            </a:pPr>
            <a:r>
              <a:t>Attendance: (55 − 74.86225) / 11.58473 = −1.7145</a:t>
            </a:r>
            <a:br/>
            <a:r>
              <a:t>Previous Grades: (45 − 63.72100) / 15.15947 = −1.2349</a:t>
            </a:r>
            <a:br/>
            <a:r>
              <a:t>Assignment: (48 − 68.32413) / 15.08191 = −1.3476</a:t>
            </a:r>
            <a:br/>
            <a:r>
              <a:t>Internal Marks: (42 − 66.32138) / 13.64777 = −1.7821</a:t>
            </a:r>
            <a:br/>
            <a:r>
              <a:t>Participation: (2 − 5.88125) / 1.95515 = −1.9851</a:t>
            </a:r>
            <a:br/>
            <a:r>
              <a:t>Backlogs: (3 − 1.17375) / 1.05998 = +1.7229</a:t>
            </a:r>
          </a:p>
        </p:txBody>
      </p:sp>
      <p:sp>
        <p:nvSpPr>
          <p:cNvPr id="14" name="Rounded Rectangle 13"/>
          <p:cNvSpPr/>
          <p:nvPr/>
        </p:nvSpPr>
        <p:spPr>
          <a:xfrm>
            <a:off x="6217920" y="3538728"/>
            <a:ext cx="5440680" cy="1508760"/>
          </a:xfrm>
          <a:prstGeom prst="roundRect">
            <a:avLst/>
          </a:prstGeom>
          <a:solidFill>
            <a:srgbClr val="F9EFE1"/>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538728"/>
            <a:ext cx="64008" cy="1508760"/>
          </a:xfrm>
          <a:prstGeom prst="rect">
            <a:avLst/>
          </a:prstGeom>
          <a:solidFill>
            <a:srgbClr val="D37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648456"/>
            <a:ext cx="5120640" cy="320040"/>
          </a:xfrm>
          <a:prstGeom prst="rect">
            <a:avLst/>
          </a:prstGeom>
          <a:noFill/>
        </p:spPr>
        <p:txBody>
          <a:bodyPr wrap="square" lIns="18288" rIns="18288" tIns="18288" bIns="18288">
            <a:spAutoFit/>
          </a:bodyPr>
          <a:lstStyle/>
          <a:p>
            <a:pPr algn="l">
              <a:defRPr sz="1420" b="1">
                <a:solidFill>
                  <a:srgbClr val="132037"/>
                </a:solidFill>
                <a:latin typeface="Aptos"/>
              </a:defRPr>
            </a:pPr>
            <a:r>
              <a:t>4. Logistic Regression weighted sum</a:t>
            </a:r>
          </a:p>
        </p:txBody>
      </p:sp>
      <p:sp>
        <p:nvSpPr>
          <p:cNvPr id="17" name="TextBox 16"/>
          <p:cNvSpPr txBox="1"/>
          <p:nvPr/>
        </p:nvSpPr>
        <p:spPr>
          <a:xfrm>
            <a:off x="6400800" y="4069080"/>
            <a:ext cx="5120640" cy="850392"/>
          </a:xfrm>
          <a:prstGeom prst="rect">
            <a:avLst/>
          </a:prstGeom>
          <a:noFill/>
        </p:spPr>
        <p:txBody>
          <a:bodyPr wrap="square" lIns="18288" rIns="18288" tIns="18288" bIns="18288">
            <a:spAutoFit/>
          </a:bodyPr>
          <a:lstStyle/>
          <a:p>
            <a:pPr algn="l">
              <a:defRPr sz="940" b="0">
                <a:solidFill>
                  <a:srgbClr val="232A33"/>
                </a:solidFill>
                <a:latin typeface="Aptos"/>
              </a:defRPr>
            </a:pPr>
            <a:r>
              <a:t>z = 0.05145 + (−1.26624×−1.7145) + (−0.91054×−1.2349) + (−0.65600×−1.3476)</a:t>
            </a:r>
            <a:br/>
            <a:r>
              <a:t>    + (−0.90048×−1.7821) + (−0.44003×−1.9851) + (1.34537×1.7229)</a:t>
            </a:r>
            <a:br/>
            <a:r>
              <a:t>z ≈ 9.0271</a:t>
            </a:r>
          </a:p>
        </p:txBody>
      </p:sp>
      <p:sp>
        <p:nvSpPr>
          <p:cNvPr id="18" name="Rounded Rectangle 17"/>
          <p:cNvSpPr/>
          <p:nvPr/>
        </p:nvSpPr>
        <p:spPr>
          <a:xfrm>
            <a:off x="502920" y="5596128"/>
            <a:ext cx="11155680" cy="667512"/>
          </a:xfrm>
          <a:prstGeom prst="roundRect">
            <a:avLst/>
          </a:prstGeom>
          <a:solidFill>
            <a:srgbClr val="F9EAEA"/>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596128"/>
            <a:ext cx="64008" cy="667512"/>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705856"/>
            <a:ext cx="10835640" cy="320040"/>
          </a:xfrm>
          <a:prstGeom prst="rect">
            <a:avLst/>
          </a:prstGeom>
          <a:noFill/>
        </p:spPr>
        <p:txBody>
          <a:bodyPr wrap="square" lIns="18288" rIns="18288" tIns="18288" bIns="18288">
            <a:spAutoFit/>
          </a:bodyPr>
          <a:lstStyle/>
          <a:p>
            <a:pPr algn="l">
              <a:defRPr sz="1340" b="1">
                <a:solidFill>
                  <a:srgbClr val="132037"/>
                </a:solidFill>
                <a:latin typeface="Aptos"/>
              </a:defRPr>
            </a:pPr>
            <a:r>
              <a:t>5. Sigmoid + decision</a:t>
            </a:r>
          </a:p>
        </p:txBody>
      </p:sp>
      <p:sp>
        <p:nvSpPr>
          <p:cNvPr id="21" name="TextBox 20"/>
          <p:cNvSpPr txBox="1"/>
          <p:nvPr/>
        </p:nvSpPr>
        <p:spPr>
          <a:xfrm>
            <a:off x="685800" y="6126480"/>
            <a:ext cx="10835640" cy="9144"/>
          </a:xfrm>
          <a:prstGeom prst="rect">
            <a:avLst/>
          </a:prstGeom>
          <a:noFill/>
        </p:spPr>
        <p:txBody>
          <a:bodyPr wrap="square" lIns="18288" rIns="18288" tIns="18288" bIns="18288">
            <a:spAutoFit/>
          </a:bodyPr>
          <a:lstStyle/>
          <a:p>
            <a:pPr algn="l">
              <a:defRPr sz="1210" b="0">
                <a:solidFill>
                  <a:srgbClr val="232A33"/>
                </a:solidFill>
                <a:latin typeface="Aptos"/>
              </a:defRPr>
            </a:pPr>
            <a:r>
              <a:t>P(At Risk) = 1 / (1 + e^−9.0271) = 0.99988 ≈ 99.99%   →   99.99% ≥ 50%   →   YES (At Risk)</a:t>
            </a:r>
          </a:p>
        </p:txBody>
      </p:sp>
      <p:sp>
        <p:nvSpPr>
          <p:cNvPr id="22" name="Rectangle 21"/>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6597396"/>
            <a:ext cx="11384280" cy="164592"/>
          </a:xfrm>
          <a:prstGeom prst="rect">
            <a:avLst/>
          </a:prstGeom>
          <a:noFill/>
        </p:spPr>
        <p:txBody>
          <a:bodyPr wrap="square" lIns="18288" rIns="18288" tIns="18288" bIns="18288">
            <a:spAutoFit/>
          </a:bodyPr>
          <a:lstStyle/>
          <a:p>
            <a:pPr algn="ctr">
              <a:defRPr sz="850" b="0">
                <a:solidFill>
                  <a:srgbClr val="FFFFFF"/>
                </a:solidFill>
                <a:latin typeface="Aptos"/>
              </a:defRPr>
            </a:pPr>
            <a:r>
              <a:t>PBL Review 3 • Worked example uses the final six-feature Logistic Regression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10. Research Support for the Algorithm</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Previous studies demonstrate the relevance of early student prediction and machine-learning classification.</a:t>
            </a:r>
          </a:p>
        </p:txBody>
      </p:sp>
      <p:sp>
        <p:nvSpPr>
          <p:cNvPr id="5" name="Rounded Rectangle 4"/>
          <p:cNvSpPr/>
          <p:nvPr/>
        </p:nvSpPr>
        <p:spPr>
          <a:xfrm>
            <a:off x="594360" y="1097280"/>
            <a:ext cx="1097280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097280"/>
            <a:ext cx="73152" cy="123444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243584"/>
            <a:ext cx="2880360" cy="320040"/>
          </a:xfrm>
          <a:prstGeom prst="rect">
            <a:avLst/>
          </a:prstGeom>
          <a:noFill/>
        </p:spPr>
        <p:txBody>
          <a:bodyPr wrap="square" anchor="t" lIns="18288" rIns="18288" tIns="18288" bIns="18288">
            <a:spAutoFit/>
          </a:bodyPr>
          <a:lstStyle/>
          <a:p>
            <a:pPr algn="l">
              <a:defRPr sz="1550" b="1">
                <a:solidFill>
                  <a:srgbClr val="132037"/>
                </a:solidFill>
                <a:latin typeface="Aptos"/>
              </a:defRPr>
            </a:pPr>
            <a:r>
              <a:t>Martins et al. (2021)</a:t>
            </a:r>
          </a:p>
        </p:txBody>
      </p:sp>
      <p:sp>
        <p:nvSpPr>
          <p:cNvPr id="8" name="TextBox 7"/>
          <p:cNvSpPr txBox="1"/>
          <p:nvPr/>
        </p:nvSpPr>
        <p:spPr>
          <a:xfrm>
            <a:off x="3657600" y="1216152"/>
            <a:ext cx="5394960" cy="685800"/>
          </a:xfrm>
          <a:prstGeom prst="rect">
            <a:avLst/>
          </a:prstGeom>
          <a:noFill/>
        </p:spPr>
        <p:txBody>
          <a:bodyPr wrap="square" anchor="t" lIns="18288" rIns="18288" tIns="18288" bIns="18288">
            <a:spAutoFit/>
          </a:bodyPr>
          <a:lstStyle/>
          <a:p>
            <a:pPr algn="l">
              <a:defRPr sz="1240" b="0">
                <a:solidFill>
                  <a:srgbClr val="232A33"/>
                </a:solidFill>
                <a:latin typeface="Aptos"/>
              </a:defRPr>
            </a:pPr>
            <a:r>
              <a:t>Early prediction of higher-education student outcomes using academic, demographic and socio-economic information.</a:t>
            </a:r>
          </a:p>
        </p:txBody>
      </p:sp>
      <p:sp>
        <p:nvSpPr>
          <p:cNvPr id="9" name="TextBox 8"/>
          <p:cNvSpPr txBox="1"/>
          <p:nvPr/>
        </p:nvSpPr>
        <p:spPr>
          <a:xfrm>
            <a:off x="9144000" y="1243584"/>
            <a:ext cx="2194560" cy="658368"/>
          </a:xfrm>
          <a:prstGeom prst="rect">
            <a:avLst/>
          </a:prstGeom>
          <a:noFill/>
        </p:spPr>
        <p:txBody>
          <a:bodyPr wrap="square" anchor="t" lIns="18288" rIns="18288" tIns="18288" bIns="18288">
            <a:spAutoFit/>
          </a:bodyPr>
          <a:lstStyle/>
          <a:p>
            <a:pPr algn="l">
              <a:defRPr sz="1019" b="0">
                <a:solidFill>
                  <a:srgbClr val="2B5C91"/>
                </a:solidFill>
                <a:latin typeface="Consolas"/>
              </a:defRPr>
            </a:pPr>
            <a:r>
              <a:t>https://doi.org/10.1007/978-3-030-72657-7_16</a:t>
            </a:r>
          </a:p>
        </p:txBody>
      </p:sp>
      <p:sp>
        <p:nvSpPr>
          <p:cNvPr id="10" name="Rounded Rectangle 9"/>
          <p:cNvSpPr/>
          <p:nvPr/>
        </p:nvSpPr>
        <p:spPr>
          <a:xfrm>
            <a:off x="594360" y="2514600"/>
            <a:ext cx="1097280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514600"/>
            <a:ext cx="73152" cy="1234440"/>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660904"/>
            <a:ext cx="2880360" cy="320040"/>
          </a:xfrm>
          <a:prstGeom prst="rect">
            <a:avLst/>
          </a:prstGeom>
          <a:noFill/>
        </p:spPr>
        <p:txBody>
          <a:bodyPr wrap="square" anchor="t" lIns="18288" rIns="18288" tIns="18288" bIns="18288">
            <a:spAutoFit/>
          </a:bodyPr>
          <a:lstStyle/>
          <a:p>
            <a:pPr algn="l">
              <a:defRPr sz="1550" b="1">
                <a:solidFill>
                  <a:srgbClr val="132037"/>
                </a:solidFill>
                <a:latin typeface="Aptos"/>
              </a:defRPr>
            </a:pPr>
            <a:r>
              <a:t>Yakubu &amp; Abubakar (2021)</a:t>
            </a:r>
          </a:p>
        </p:txBody>
      </p:sp>
      <p:sp>
        <p:nvSpPr>
          <p:cNvPr id="13" name="TextBox 12"/>
          <p:cNvSpPr txBox="1"/>
          <p:nvPr/>
        </p:nvSpPr>
        <p:spPr>
          <a:xfrm>
            <a:off x="3657600" y="2633472"/>
            <a:ext cx="5394960" cy="685800"/>
          </a:xfrm>
          <a:prstGeom prst="rect">
            <a:avLst/>
          </a:prstGeom>
          <a:noFill/>
        </p:spPr>
        <p:txBody>
          <a:bodyPr wrap="square" anchor="t" lIns="18288" rIns="18288" tIns="18288" bIns="18288">
            <a:spAutoFit/>
          </a:bodyPr>
          <a:lstStyle/>
          <a:p>
            <a:pPr algn="l">
              <a:defRPr sz="1240" b="0">
                <a:solidFill>
                  <a:srgbClr val="232A33"/>
                </a:solidFill>
                <a:latin typeface="Aptos"/>
              </a:defRPr>
            </a:pPr>
            <a:r>
              <a:t>Educational-performance prediction using student information-system data; Logistic Regression was among the approaches.</a:t>
            </a:r>
          </a:p>
        </p:txBody>
      </p:sp>
      <p:sp>
        <p:nvSpPr>
          <p:cNvPr id="14" name="TextBox 13"/>
          <p:cNvSpPr txBox="1"/>
          <p:nvPr/>
        </p:nvSpPr>
        <p:spPr>
          <a:xfrm>
            <a:off x="9144000" y="2660904"/>
            <a:ext cx="2194560" cy="658368"/>
          </a:xfrm>
          <a:prstGeom prst="rect">
            <a:avLst/>
          </a:prstGeom>
          <a:noFill/>
        </p:spPr>
        <p:txBody>
          <a:bodyPr wrap="square" anchor="t" lIns="18288" rIns="18288" tIns="18288" bIns="18288">
            <a:spAutoFit/>
          </a:bodyPr>
          <a:lstStyle/>
          <a:p>
            <a:pPr algn="l">
              <a:defRPr sz="1019" b="0">
                <a:solidFill>
                  <a:srgbClr val="268B91"/>
                </a:solidFill>
                <a:latin typeface="Consolas"/>
              </a:defRPr>
            </a:pPr>
            <a:r>
              <a:t>https://doi.org/10.1108/K-12-2020-0865</a:t>
            </a:r>
          </a:p>
        </p:txBody>
      </p:sp>
      <p:sp>
        <p:nvSpPr>
          <p:cNvPr id="15" name="Rounded Rectangle 14"/>
          <p:cNvSpPr/>
          <p:nvPr/>
        </p:nvSpPr>
        <p:spPr>
          <a:xfrm>
            <a:off x="594360" y="3931920"/>
            <a:ext cx="10972800" cy="123444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931920"/>
            <a:ext cx="73152" cy="1234440"/>
          </a:xfrm>
          <a:prstGeom prst="rect">
            <a:avLst/>
          </a:prstGeom>
          <a:solidFill>
            <a:srgbClr val="D37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078224"/>
            <a:ext cx="2880360" cy="320040"/>
          </a:xfrm>
          <a:prstGeom prst="rect">
            <a:avLst/>
          </a:prstGeom>
          <a:noFill/>
        </p:spPr>
        <p:txBody>
          <a:bodyPr wrap="square" anchor="t" lIns="18288" rIns="18288" tIns="18288" bIns="18288">
            <a:spAutoFit/>
          </a:bodyPr>
          <a:lstStyle/>
          <a:p>
            <a:pPr algn="l">
              <a:defRPr sz="1550" b="1">
                <a:solidFill>
                  <a:srgbClr val="132037"/>
                </a:solidFill>
                <a:latin typeface="Aptos"/>
              </a:defRPr>
            </a:pPr>
            <a:r>
              <a:t>Villar &amp; de Andrade (2024)</a:t>
            </a:r>
          </a:p>
        </p:txBody>
      </p:sp>
      <p:sp>
        <p:nvSpPr>
          <p:cNvPr id="18" name="TextBox 17"/>
          <p:cNvSpPr txBox="1"/>
          <p:nvPr/>
        </p:nvSpPr>
        <p:spPr>
          <a:xfrm>
            <a:off x="3657600" y="4050791"/>
            <a:ext cx="5394960" cy="685800"/>
          </a:xfrm>
          <a:prstGeom prst="rect">
            <a:avLst/>
          </a:prstGeom>
          <a:noFill/>
        </p:spPr>
        <p:txBody>
          <a:bodyPr wrap="square" anchor="t" lIns="18288" rIns="18288" tIns="18288" bIns="18288">
            <a:spAutoFit/>
          </a:bodyPr>
          <a:lstStyle/>
          <a:p>
            <a:pPr algn="l">
              <a:defRPr sz="1240" b="0">
                <a:solidFill>
                  <a:srgbClr val="232A33"/>
                </a:solidFill>
                <a:latin typeface="Aptos"/>
              </a:defRPr>
            </a:pPr>
            <a:r>
              <a:t>Comparative study of Decision Tree, Random Forest, SVM, XGBoost, CatBoost and LightGBM with imbalance handling and SHAP.</a:t>
            </a:r>
          </a:p>
        </p:txBody>
      </p:sp>
      <p:sp>
        <p:nvSpPr>
          <p:cNvPr id="19" name="TextBox 18"/>
          <p:cNvSpPr txBox="1"/>
          <p:nvPr/>
        </p:nvSpPr>
        <p:spPr>
          <a:xfrm>
            <a:off x="9144000" y="4078224"/>
            <a:ext cx="2194560" cy="658368"/>
          </a:xfrm>
          <a:prstGeom prst="rect">
            <a:avLst/>
          </a:prstGeom>
          <a:noFill/>
        </p:spPr>
        <p:txBody>
          <a:bodyPr wrap="square" anchor="t" lIns="18288" rIns="18288" tIns="18288" bIns="18288">
            <a:spAutoFit/>
          </a:bodyPr>
          <a:lstStyle/>
          <a:p>
            <a:pPr algn="l">
              <a:defRPr sz="1019" b="0">
                <a:solidFill>
                  <a:srgbClr val="D37E2A"/>
                </a:solidFill>
                <a:latin typeface="Consolas"/>
              </a:defRPr>
            </a:pPr>
            <a:r>
              <a:t>https://doi.org/10.1007/s44163-023-00079-z</a:t>
            </a:r>
          </a:p>
        </p:txBody>
      </p:sp>
      <p:sp>
        <p:nvSpPr>
          <p:cNvPr id="20" name="Rounded Rectangle 19"/>
          <p:cNvSpPr/>
          <p:nvPr/>
        </p:nvSpPr>
        <p:spPr>
          <a:xfrm>
            <a:off x="777240" y="5486400"/>
            <a:ext cx="10652760" cy="658368"/>
          </a:xfrm>
          <a:prstGeom prst="roundRect">
            <a:avLst/>
          </a:prstGeom>
          <a:solidFill>
            <a:srgbClr val="E8F4F4"/>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486400"/>
            <a:ext cx="64008" cy="658368"/>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623560"/>
            <a:ext cx="1033272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Connection to our project</a:t>
            </a:r>
          </a:p>
        </p:txBody>
      </p:sp>
      <p:sp>
        <p:nvSpPr>
          <p:cNvPr id="23" name="TextBox 22"/>
          <p:cNvSpPr txBox="1"/>
          <p:nvPr/>
        </p:nvSpPr>
        <p:spPr>
          <a:xfrm>
            <a:off x="960120" y="6053328"/>
            <a:ext cx="10332720" cy="-36576"/>
          </a:xfrm>
          <a:prstGeom prst="rect">
            <a:avLst/>
          </a:prstGeom>
          <a:noFill/>
        </p:spPr>
        <p:txBody>
          <a:bodyPr wrap="square" anchor="t" lIns="18288" rIns="18288" tIns="18288" bIns="18288">
            <a:spAutoFit/>
          </a:bodyPr>
          <a:lstStyle/>
          <a:p>
            <a:pPr algn="l">
              <a:defRPr sz="1180" b="0">
                <a:solidFill>
                  <a:srgbClr val="232A33"/>
                </a:solidFill>
                <a:latin typeface="Aptos"/>
              </a:defRPr>
            </a:pPr>
            <a:r>
              <a:t>We use a simpler binary At-Risk / Not-At-Risk formulation with Logistic Regression as an interpretable baseline aligned with the current syllabus.</a:t>
            </a:r>
          </a:p>
        </p:txBody>
      </p:sp>
      <p:sp>
        <p:nvSpPr>
          <p:cNvPr id="24" name="Rectangle 23"/>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420624"/>
          </a:xfrm>
          <a:prstGeom prst="rect">
            <a:avLst/>
          </a:prstGeom>
          <a:noFill/>
        </p:spPr>
        <p:txBody>
          <a:bodyPr wrap="none">
            <a:spAutoFit/>
          </a:bodyPr>
          <a:lstStyle/>
          <a:p>
            <a:pPr>
              <a:defRPr sz="2700" b="1">
                <a:solidFill>
                  <a:srgbClr val="FFFFFF"/>
                </a:solidFill>
                <a:latin typeface="Aptos Display"/>
              </a:defRPr>
            </a:pPr>
            <a:r>
              <a:t>11. Conclusion, Limitations &amp; Future Scope</a:t>
            </a:r>
          </a:p>
        </p:txBody>
      </p:sp>
      <p:sp>
        <p:nvSpPr>
          <p:cNvPr id="4" name="TextBox 3"/>
          <p:cNvSpPr txBox="1"/>
          <p:nvPr/>
        </p:nvSpPr>
        <p:spPr>
          <a:xfrm>
            <a:off x="594360" y="768096"/>
            <a:ext cx="10927080" cy="384048"/>
          </a:xfrm>
          <a:prstGeom prst="rect">
            <a:avLst/>
          </a:prstGeom>
          <a:noFill/>
        </p:spPr>
        <p:txBody>
          <a:bodyPr wrap="none">
            <a:spAutoFit/>
          </a:bodyPr>
          <a:lstStyle/>
          <a:p>
            <a:pPr>
              <a:defRPr sz="1250">
                <a:solidFill>
                  <a:srgbClr val="646E7A"/>
                </a:solidFill>
                <a:latin typeface="Aptos"/>
              </a:defRPr>
            </a:pPr>
            <a:r>
              <a:t>What Review 3 demonstrates and what remains for the next iteration.</a:t>
            </a:r>
          </a:p>
        </p:txBody>
      </p:sp>
      <p:sp>
        <p:nvSpPr>
          <p:cNvPr id="5" name="Rounded Rectangle 4"/>
          <p:cNvSpPr/>
          <p:nvPr/>
        </p:nvSpPr>
        <p:spPr>
          <a:xfrm>
            <a:off x="594360" y="1143000"/>
            <a:ext cx="3520440" cy="452628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43000"/>
            <a:ext cx="64008" cy="4526280"/>
          </a:xfrm>
          <a:prstGeom prst="rect">
            <a:avLst/>
          </a:prstGeom>
          <a:solidFill>
            <a:srgbClr val="2B5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280160"/>
            <a:ext cx="320040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What is completed</a:t>
            </a:r>
          </a:p>
        </p:txBody>
      </p:sp>
      <p:sp>
        <p:nvSpPr>
          <p:cNvPr id="8" name="TextBox 7"/>
          <p:cNvSpPr txBox="1"/>
          <p:nvPr/>
        </p:nvSpPr>
        <p:spPr>
          <a:xfrm>
            <a:off x="777240" y="1709928"/>
            <a:ext cx="3200400" cy="3831336"/>
          </a:xfrm>
          <a:prstGeom prst="rect">
            <a:avLst/>
          </a:prstGeom>
          <a:noFill/>
        </p:spPr>
        <p:txBody>
          <a:bodyPr wrap="square" anchor="t" lIns="18288" rIns="18288" tIns="18288" bIns="18288">
            <a:spAutoFit/>
          </a:bodyPr>
          <a:lstStyle/>
          <a:p>
            <a:pPr algn="l">
              <a:defRPr sz="1410" b="0">
                <a:solidFill>
                  <a:srgbClr val="232A33"/>
                </a:solidFill>
                <a:latin typeface="Aptos"/>
              </a:defRPr>
            </a:pPr>
            <a:r>
              <a:t>• Case-based problem formulation</a:t>
            </a:r>
            <a:br/>
            <a:r>
              <a:t>• Dataset identification</a:t>
            </a:r>
            <a:br/>
            <a:r>
              <a:t>• Practical EDA program + visuals</a:t>
            </a:r>
            <a:br/>
            <a:r>
              <a:t>• Data-quality checks</a:t>
            </a:r>
            <a:br/>
            <a:r>
              <a:t>• Logistic Regression implementation</a:t>
            </a:r>
            <a:br/>
            <a:r>
              <a:t>• Performance evaluation</a:t>
            </a:r>
            <a:br/>
            <a:r>
              <a:t>• New-student prediction demonstration</a:t>
            </a:r>
          </a:p>
        </p:txBody>
      </p:sp>
      <p:sp>
        <p:nvSpPr>
          <p:cNvPr id="9" name="Rounded Rectangle 8"/>
          <p:cNvSpPr/>
          <p:nvPr/>
        </p:nvSpPr>
        <p:spPr>
          <a:xfrm>
            <a:off x="4343400" y="1143000"/>
            <a:ext cx="3520440" cy="452628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143000"/>
            <a:ext cx="64008" cy="4526280"/>
          </a:xfrm>
          <a:prstGeom prst="rect">
            <a:avLst/>
          </a:prstGeom>
          <a:solidFill>
            <a:srgbClr val="AE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280160"/>
            <a:ext cx="320040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Current limitation</a:t>
            </a:r>
          </a:p>
        </p:txBody>
      </p:sp>
      <p:sp>
        <p:nvSpPr>
          <p:cNvPr id="12" name="TextBox 11"/>
          <p:cNvSpPr txBox="1"/>
          <p:nvPr/>
        </p:nvSpPr>
        <p:spPr>
          <a:xfrm>
            <a:off x="4526280" y="1709928"/>
            <a:ext cx="3200400" cy="3831336"/>
          </a:xfrm>
          <a:prstGeom prst="rect">
            <a:avLst/>
          </a:prstGeom>
          <a:noFill/>
        </p:spPr>
        <p:txBody>
          <a:bodyPr wrap="square" anchor="t" lIns="18288" rIns="18288" tIns="18288" bIns="18288">
            <a:spAutoFit/>
          </a:bodyPr>
          <a:lstStyle/>
          <a:p>
            <a:pPr algn="l">
              <a:defRPr sz="1410" b="0">
                <a:solidFill>
                  <a:srgbClr val="232A33"/>
                </a:solidFill>
                <a:latin typeface="Aptos"/>
              </a:defRPr>
            </a:pPr>
            <a:r>
              <a:t>• Dataset is synthetic</a:t>
            </a:r>
            <a:br/>
            <a:r>
              <a:t>• Results are prototype test-split results</a:t>
            </a:r>
            <a:br/>
            <a:r>
              <a:t>• One simple baseline algorithm is used</a:t>
            </a:r>
            <a:br/>
            <a:r>
              <a:t>• Real institutional validation has not yet been performed</a:t>
            </a:r>
          </a:p>
        </p:txBody>
      </p:sp>
      <p:sp>
        <p:nvSpPr>
          <p:cNvPr id="13" name="Rounded Rectangle 12"/>
          <p:cNvSpPr/>
          <p:nvPr/>
        </p:nvSpPr>
        <p:spPr>
          <a:xfrm>
            <a:off x="8092440" y="1143000"/>
            <a:ext cx="3429000" cy="4526280"/>
          </a:xfrm>
          <a:prstGeom prst="roundRect">
            <a:avLst/>
          </a:prstGeom>
          <a:solidFill>
            <a:srgbClr val="FFFFFF"/>
          </a:solidFill>
          <a:ln>
            <a:solidFill>
              <a:srgbClr val="DB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143000"/>
            <a:ext cx="64008" cy="4526280"/>
          </a:xfrm>
          <a:prstGeom prst="rect">
            <a:avLst/>
          </a:prstGeom>
          <a:solidFill>
            <a:srgbClr val="26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280160"/>
            <a:ext cx="3108960" cy="329184"/>
          </a:xfrm>
          <a:prstGeom prst="rect">
            <a:avLst/>
          </a:prstGeom>
          <a:noFill/>
        </p:spPr>
        <p:txBody>
          <a:bodyPr wrap="square" anchor="t" lIns="18288" rIns="18288" tIns="18288" bIns="18288">
            <a:spAutoFit/>
          </a:bodyPr>
          <a:lstStyle/>
          <a:p>
            <a:pPr algn="l">
              <a:defRPr sz="1750" b="1">
                <a:solidFill>
                  <a:srgbClr val="132037"/>
                </a:solidFill>
                <a:latin typeface="Aptos"/>
              </a:defRPr>
            </a:pPr>
            <a:r>
              <a:t>Future scope</a:t>
            </a:r>
          </a:p>
        </p:txBody>
      </p:sp>
      <p:sp>
        <p:nvSpPr>
          <p:cNvPr id="16" name="TextBox 15"/>
          <p:cNvSpPr txBox="1"/>
          <p:nvPr/>
        </p:nvSpPr>
        <p:spPr>
          <a:xfrm>
            <a:off x="8275319" y="1709928"/>
            <a:ext cx="3108960" cy="3831336"/>
          </a:xfrm>
          <a:prstGeom prst="rect">
            <a:avLst/>
          </a:prstGeom>
          <a:noFill/>
        </p:spPr>
        <p:txBody>
          <a:bodyPr wrap="square" anchor="t" lIns="18288" rIns="18288" tIns="18288" bIns="18288">
            <a:spAutoFit/>
          </a:bodyPr>
          <a:lstStyle/>
          <a:p>
            <a:pPr algn="l">
              <a:defRPr sz="1410" b="0">
                <a:solidFill>
                  <a:srgbClr val="232A33"/>
                </a:solidFill>
                <a:latin typeface="Aptos"/>
              </a:defRPr>
            </a:pPr>
            <a:r>
              <a:t>• Validate on a suitable real/public dataset</a:t>
            </a:r>
            <a:br/>
            <a:r>
              <a:t>• Compare Decision Tree / Random Forest / boosting methods</a:t>
            </a:r>
            <a:br/>
            <a:r>
              <a:t>• Tune decision threshold based on intervention goals</a:t>
            </a:r>
            <a:br/>
            <a:r>
              <a:t>• Add explainability and deployment through an API/dashboard</a:t>
            </a:r>
          </a:p>
        </p:txBody>
      </p:sp>
      <p:sp>
        <p:nvSpPr>
          <p:cNvPr id="17" name="TextBox 16"/>
          <p:cNvSpPr txBox="1"/>
          <p:nvPr/>
        </p:nvSpPr>
        <p:spPr>
          <a:xfrm>
            <a:off x="731520" y="5897880"/>
            <a:ext cx="10744200" cy="329184"/>
          </a:xfrm>
          <a:prstGeom prst="rect">
            <a:avLst/>
          </a:prstGeom>
          <a:noFill/>
        </p:spPr>
        <p:txBody>
          <a:bodyPr wrap="square" anchor="t" lIns="18288" rIns="18288" tIns="18288" bIns="18288">
            <a:spAutoFit/>
          </a:bodyPr>
          <a:lstStyle/>
          <a:p>
            <a:pPr algn="ctr">
              <a:defRPr sz="1280" b="1">
                <a:solidFill>
                  <a:srgbClr val="132037"/>
                </a:solidFill>
                <a:latin typeface="Aptos"/>
              </a:defRPr>
            </a:pPr>
            <a:r>
              <a:t>Review-3 takeaway: problem → data → EDA → algorithm → implementation → evaluation → prediction</a:t>
            </a:r>
          </a:p>
        </p:txBody>
      </p:sp>
      <p:sp>
        <p:nvSpPr>
          <p:cNvPr id="18" name="Rectangle 17"/>
          <p:cNvSpPr/>
          <p:nvPr/>
        </p:nvSpPr>
        <p:spPr>
          <a:xfrm>
            <a:off x="0" y="6565392"/>
            <a:ext cx="12191695" cy="292608"/>
          </a:xfrm>
          <a:prstGeom prst="rect">
            <a:avLst/>
          </a:prstGeom>
          <a:solidFill>
            <a:srgbClr val="13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6597396"/>
            <a:ext cx="11384280" cy="164592"/>
          </a:xfrm>
          <a:prstGeom prst="rect">
            <a:avLst/>
          </a:prstGeom>
          <a:noFill/>
        </p:spPr>
        <p:txBody>
          <a:bodyPr wrap="none">
            <a:spAutoFit/>
          </a:bodyPr>
          <a:lstStyle/>
          <a:p>
            <a:pPr algn="ctr">
              <a:defRPr sz="850">
                <a:solidFill>
                  <a:srgbClr val="FFFFFF"/>
                </a:solidFill>
                <a:latin typeface="Aptos"/>
              </a:defRPr>
            </a:pPr>
            <a:r>
              <a:t>PBL Review 3 • Student Academic Risk Prediction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