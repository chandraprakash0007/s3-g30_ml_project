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60"/>
  </p:normalViewPr>
  <p:slideViewPr>
    <p:cSldViewPr snapToGrid="0" snapToObjects="1">
      <p:cViewPr>
        <p:scale>
          <a:sx n="92" d="100"/>
          <a:sy n="92" d="100"/>
        </p:scale>
        <p:origin x="106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38360" y="128016"/>
            <a:ext cx="2453335" cy="6437376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27432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600" b="1">
                <a:solidFill>
                  <a:srgbClr val="E8EFF8"/>
                </a:solidFill>
                <a:latin typeface="Aptos"/>
              </a:defRPr>
            </a:pPr>
            <a:r>
              <a:t>PBL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04672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Literature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82296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200" b="1">
                <a:solidFill>
                  <a:srgbClr val="E8EFF8"/>
                </a:solidFill>
                <a:latin typeface="Aptos"/>
              </a:defRPr>
            </a:pPr>
            <a:r>
              <a:t>Student Academic Risk 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99232"/>
            <a:ext cx="7955279" cy="6858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Review focus: prior research, datasets, outcomes, limitations, and project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160520"/>
            <a:ext cx="8001000" cy="1051560"/>
          </a:xfrm>
          <a:prstGeom prst="roundRect">
            <a:avLst/>
          </a:prstGeom>
          <a:solidFill>
            <a:srgbClr val="182A46"/>
          </a:solidFill>
          <a:ln>
            <a:solidFill>
              <a:srgbClr val="3C6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352544"/>
            <a:ext cx="2743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20" b="1">
                <a:solidFill>
                  <a:srgbClr val="FFFFFF"/>
                </a:solidFill>
                <a:latin typeface="Aptos"/>
              </a:defRPr>
            </a:pPr>
            <a:r>
              <a:t>Chandra Prakash Verma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90872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20" b="0">
                <a:solidFill>
                  <a:srgbClr val="E8EFF8"/>
                </a:solidFill>
                <a:latin typeface="Aptos"/>
              </a:defRPr>
            </a:pPr>
            <a:r>
              <a:t>2500031353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352544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20" b="1">
                <a:solidFill>
                  <a:srgbClr val="FFFFFF"/>
                </a:solidFill>
                <a:latin typeface="Aptos"/>
              </a:defRPr>
            </a:pPr>
            <a:r>
              <a:t>Harshith Sirpuri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690872"/>
            <a:ext cx="1828800" cy="21945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20" b="0">
                <a:solidFill>
                  <a:srgbClr val="E8EFF8"/>
                </a:solidFill>
                <a:latin typeface="Aptos"/>
              </a:defRPr>
            </a:pPr>
            <a:r>
              <a:t>2520030572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566928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20" b="1">
                <a:solidFill>
                  <a:srgbClr val="FFFFFF"/>
                </a:solidFill>
                <a:latin typeface="Aptos"/>
              </a:defRPr>
            </a:pPr>
            <a:r>
              <a:t>Machine Learning • Binary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1. Review-1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The July review focuses on the project foundation and initial research direction.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20440" cy="2788920"/>
          </a:xfrm>
          <a:prstGeom prst="roundRect">
            <a:avLst/>
          </a:prstGeom>
          <a:solidFill>
            <a:srgbClr val="E8EFF8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64008" cy="278892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53312"/>
            <a:ext cx="32004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7"/>
                </a:solidFill>
                <a:latin typeface="Aptos"/>
              </a:defRPr>
            </a:pPr>
            <a:r>
              <a:t>1. Title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320040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20" b="0">
                <a:solidFill>
                  <a:srgbClr val="232A33"/>
                </a:solidFill>
                <a:latin typeface="Aptos"/>
              </a:defRPr>
            </a:pPr>
            <a:r>
              <a:t>Project title:</a:t>
            </a:r>
            <a:br/>
            <a:r>
              <a:t>Student Academic Risk Prediction System</a:t>
            </a:r>
            <a:br/>
            <a:br/>
            <a:r>
              <a:t>Focus:</a:t>
            </a:r>
            <a:br/>
            <a:r>
              <a:t>Binary classification — At Risk = YES / 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520440" cy="2788920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234440"/>
            <a:ext cx="64008" cy="278892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353312"/>
            <a:ext cx="32004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7"/>
                </a:solidFill>
                <a:latin typeface="Aptos"/>
              </a:defRPr>
            </a:pPr>
            <a:r>
              <a:t>2. GitHub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200400" cy="123726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232A33"/>
                </a:solidFill>
                <a:latin typeface="Aptos"/>
              </a:defRPr>
            </a:pPr>
            <a:r>
              <a:rPr dirty="0"/>
              <a:t>Repository created for project files, code, dataset and documentation.</a:t>
            </a:r>
            <a:br>
              <a:rPr dirty="0"/>
            </a:br>
            <a:br>
              <a:rPr dirty="0"/>
            </a:br>
            <a:r>
              <a:rPr dirty="0"/>
              <a:t>GitHub URL:</a:t>
            </a:r>
            <a:br>
              <a:rPr dirty="0"/>
            </a:br>
            <a:r>
              <a:rPr lang="en-IN" dirty="0"/>
              <a:t>https://github.com/chandraprakash0007/S3-G30_ML_Project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520440" cy="2788920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64008" cy="278892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353312"/>
            <a:ext cx="32004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7"/>
                </a:solidFill>
                <a:latin typeface="Aptos"/>
              </a:defRPr>
            </a:pPr>
            <a:r>
              <a:t>3. Abstract Submission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783080"/>
            <a:ext cx="3200400" cy="2103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80" b="0">
                <a:solidFill>
                  <a:srgbClr val="232A33"/>
                </a:solidFill>
                <a:latin typeface="Aptos"/>
              </a:defRPr>
            </a:pPr>
            <a:r>
              <a:t>Submitted project abstract covering:</a:t>
            </a:r>
            <a:br/>
            <a:r>
              <a:t>• Problem</a:t>
            </a:r>
            <a:br/>
            <a:r>
              <a:t>• ML-based prediction</a:t>
            </a:r>
            <a:br/>
            <a:r>
              <a:t>• Academic indicators</a:t>
            </a:r>
            <a:br/>
            <a:r>
              <a:t>• Early-warning objective</a:t>
            </a:r>
            <a:br/>
            <a:r>
              <a:t>• Evaluation and future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34840"/>
            <a:ext cx="10561320" cy="105156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" y="4434840"/>
            <a:ext cx="64008" cy="105156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553712"/>
            <a:ext cx="1024128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50" b="1">
                <a:solidFill>
                  <a:srgbClr val="121F37"/>
                </a:solidFill>
                <a:latin typeface="Aptos"/>
              </a:defRPr>
            </a:pPr>
            <a:r>
              <a:t>Literature Survey Added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83479"/>
            <a:ext cx="1024128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80" b="0">
                <a:solidFill>
                  <a:srgbClr val="232A33"/>
                </a:solidFill>
                <a:latin typeface="Aptos"/>
              </a:defRPr>
            </a:pPr>
            <a:r>
              <a:t>Reviewed three relevant studies to understand what data previous researchers used, which models they applied, their outcomes, and the limitations that shape our project direction.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2. Literature Survey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Why we studied existing work before finalizing our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121F37"/>
                </a:solidFill>
                <a:latin typeface="Aptos"/>
              </a:defRPr>
            </a:pPr>
            <a:r>
              <a:t>Research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14502"/>
            <a:ext cx="10835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78" y="1730504"/>
            <a:ext cx="64008" cy="5943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" y="1808227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" y="1961386"/>
            <a:ext cx="10575035" cy="2185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80" b="0">
                <a:solidFill>
                  <a:srgbClr val="232A33"/>
                </a:solidFill>
                <a:latin typeface="Aptos"/>
              </a:defRPr>
            </a:pPr>
            <a:r>
              <a:rPr dirty="0"/>
              <a:t>What kinds of student data are useful for early academic prediction?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84" y="2423160"/>
            <a:ext cx="10835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3014" y="2471165"/>
            <a:ext cx="89362" cy="537211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200" y="2482389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88920"/>
            <a:ext cx="1051560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80" b="0">
                <a:solidFill>
                  <a:srgbClr val="232A33"/>
                </a:solidFill>
                <a:latin typeface="Aptos"/>
              </a:defRPr>
            </a:pPr>
            <a:r>
              <a:rPr dirty="0"/>
              <a:t>What outcomes have previous studies tried to predict?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018" y="3218688"/>
            <a:ext cx="10835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3200401"/>
            <a:ext cx="64008" cy="59436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284566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rPr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547872"/>
            <a:ext cx="1051560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80" b="0">
                <a:solidFill>
                  <a:srgbClr val="232A33"/>
                </a:solidFill>
                <a:latin typeface="Aptos"/>
              </a:defRPr>
            </a:pPr>
            <a:r>
              <a:t>Which machine-learning algorithms have been effective?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984" y="3963924"/>
            <a:ext cx="10835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3014" y="3995928"/>
            <a:ext cx="64008" cy="59436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" y="4007566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306823"/>
            <a:ext cx="1051560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80" b="0">
                <a:solidFill>
                  <a:srgbClr val="232A33"/>
                </a:solidFill>
                <a:latin typeface="Aptos"/>
              </a:defRPr>
            </a:pPr>
            <a:r>
              <a:t>What problems exist with class imbalance, generalization and model complexity?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82313"/>
            <a:ext cx="108356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3984" y="4782313"/>
            <a:ext cx="64008" cy="5943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047" y="4768596"/>
            <a:ext cx="105156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rPr dirty="0"/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065775"/>
            <a:ext cx="1051560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80" b="0">
                <a:solidFill>
                  <a:srgbClr val="232A33"/>
                </a:solidFill>
                <a:latin typeface="Aptos"/>
              </a:defRPr>
            </a:pPr>
            <a:r>
              <a:t>How is our binary At-Risk / Not-At-Risk prototype positioned?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3. Paper 1 — Martins et al.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Early Prediction of Student’s Performance in Higher Education: A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440680" cy="1874519"/>
          </a:xfrm>
          <a:prstGeom prst="roundRect">
            <a:avLst/>
          </a:prstGeom>
          <a:solidFill>
            <a:srgbClr val="E8EFF8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64008" cy="1874519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What data did they use?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19"/>
            <a:ext cx="5120640" cy="11887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Data from a higher-education institution in Portugal. The study used information known at enrollment, including academic path, demographic and socio-economic factors.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349240" cy="1874519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64008" cy="1874519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16152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Prediction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19"/>
            <a:ext cx="5029200" cy="118871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Three-category classification of academic outcome. The study explicitly dealt with strong class imbalance and tested synthetic oversampling plus standard and boosting classifiers.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46120"/>
            <a:ext cx="5440680" cy="1920240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46120"/>
            <a:ext cx="64008" cy="192024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64991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Main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94759"/>
            <a:ext cx="512064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Boosting algorithms performed better than standard methods on the specific task. However, even the stronger methods struggled with a minority class.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349240" cy="192024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64008" cy="192024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364991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Limitation /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59"/>
            <a:ext cx="50292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Institution-specific data limits generalization. The study also noted that adding first-year performance information would be a useful future direction.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600700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>
                <a:solidFill>
                  <a:srgbClr val="2B5C91"/>
                </a:solidFill>
                <a:latin typeface="Consolas"/>
              </a:defRPr>
            </a:pPr>
            <a:r>
              <a:t>DOI: https://doi.org/10.1007/978-3-030-72657-7_16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4. Paper 2 — Yakubu &amp; Abubakar (2021)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Applying Machine Learning Approach to Predict Students’ Performance in Higher Educational Institutions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5440680" cy="1920240"/>
          </a:xfrm>
          <a:prstGeom prst="roundRect">
            <a:avLst/>
          </a:prstGeom>
          <a:solidFill>
            <a:srgbClr val="E8EFF8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64008" cy="192024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16152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What data did they use?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19"/>
            <a:ext cx="512064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Secondary data from a student information system at a Nigerian university. Early indicators included age, gender, high-school exam scores/JAMB, region and CGPA.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97280"/>
            <a:ext cx="5349240" cy="1920240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64008" cy="192024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16152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Model /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19"/>
            <a:ext cx="50292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The study built a machine-learning classifier to predict academic performance. Logistic Regression is included among the approaches/keywords.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91840"/>
            <a:ext cx="5440680" cy="1920240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291840"/>
            <a:ext cx="64008" cy="192024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10712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20" b="1">
                <a:solidFill>
                  <a:srgbClr val="121F37"/>
                </a:solidFill>
                <a:latin typeface="Aptos"/>
              </a:defRPr>
            </a:pPr>
            <a:r>
              <a:t>Reported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512064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00" b="0">
                <a:solidFill>
                  <a:srgbClr val="232A33"/>
                </a:solidFill>
                <a:latin typeface="Aptos"/>
              </a:defRPr>
            </a:pPr>
            <a:r>
              <a:t>Higher JAMB scores were associated with higher academic success; age was not a predictor of high CGPA in their analysis. Other variables such as gender, region and year of study also showed associations.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91840"/>
            <a:ext cx="5349240" cy="192024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291840"/>
            <a:ext cx="64008" cy="192024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10712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70" b="1">
                <a:solidFill>
                  <a:srgbClr val="121F37"/>
                </a:solidFill>
                <a:latin typeface="Aptos"/>
              </a:defRPr>
            </a:pPr>
            <a:r>
              <a:t>Limitation /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50292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The findings are context-specific to one university and its available variables. We learned that interpretable classification can use early academic/background indicators.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50" b="0">
                <a:solidFill>
                  <a:srgbClr val="2B5C91"/>
                </a:solidFill>
                <a:latin typeface="Consolas"/>
              </a:defRPr>
            </a:pPr>
            <a:r>
              <a:t>DOI: https://doi.org/10.1108/K-12-2020-0865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5. Paper 3 — Villar &amp; de Andrade (2024)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Supervised Machine Learning Algorithms for Predicting Student Dropout and Academic Success: A Comparative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992"/>
            <a:ext cx="5440680" cy="1965960"/>
          </a:xfrm>
          <a:prstGeom prst="roundRect">
            <a:avLst/>
          </a:prstGeom>
          <a:solidFill>
            <a:srgbClr val="E8EFF8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078992"/>
            <a:ext cx="64008" cy="19659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197864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What data did they use?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27631"/>
            <a:ext cx="512064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A higher-education dataset with student demographic, socio-economic and academic information. The study focused on predicting dropout and academic success.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078992"/>
            <a:ext cx="5349240" cy="1965960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078992"/>
            <a:ext cx="64008" cy="196596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97864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1">
                <a:solidFill>
                  <a:srgbClr val="121F37"/>
                </a:solidFill>
                <a:latin typeface="Aptos"/>
              </a:defRPr>
            </a:pPr>
            <a:r>
              <a:t>Models /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27631"/>
            <a:ext cx="5029200" cy="1280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10" b="0">
                <a:solidFill>
                  <a:srgbClr val="232A33"/>
                </a:solidFill>
                <a:latin typeface="Aptos"/>
              </a:defRPr>
            </a:pPr>
            <a:r>
              <a:t>Decision Tree, SVM, Random Forest, Gradient Boosting, XGBoost, CatBoost and LightGBM. SMOTE handled class imbalance, Optuna tuned hyperparameters, and Isolation Forest identified anomalies.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64992"/>
            <a:ext cx="5440680" cy="1920240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3364992"/>
            <a:ext cx="64008" cy="192024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83864"/>
            <a:ext cx="51206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00" b="1">
                <a:solidFill>
                  <a:srgbClr val="121F37"/>
                </a:solidFill>
                <a:latin typeface="Aptos"/>
              </a:defRPr>
            </a:pPr>
            <a:r>
              <a:t>Main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13632"/>
            <a:ext cx="512064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50" b="0">
                <a:solidFill>
                  <a:srgbClr val="232A33"/>
                </a:solidFill>
                <a:latin typeface="Aptos"/>
              </a:defRPr>
            </a:pPr>
            <a:r>
              <a:t>Boosting methods—especially LightGBM and CatBoost with Optuna—performed strongly compared with traditional approaches in the study.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64992"/>
            <a:ext cx="5349240" cy="192024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364992"/>
            <a:ext cx="64008" cy="192024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483864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70" b="1">
                <a:solidFill>
                  <a:srgbClr val="121F37"/>
                </a:solidFill>
                <a:latin typeface="Aptos"/>
              </a:defRPr>
            </a:pPr>
            <a:r>
              <a:t>Limitation / 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5029200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30" b="0">
                <a:solidFill>
                  <a:srgbClr val="232A33"/>
                </a:solidFill>
                <a:latin typeface="Aptos"/>
              </a:defRPr>
            </a:pPr>
            <a:r>
              <a:t>Generalizability is constrained by reliance on a single dataset. The stronger models are more complex, so explainability becomes important; the study used SHAP for interpretation.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50992"/>
            <a:ext cx="10789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19" b="0">
                <a:solidFill>
                  <a:srgbClr val="2B5C91"/>
                </a:solidFill>
                <a:latin typeface="Consolas"/>
              </a:defRPr>
            </a:pPr>
            <a:r>
              <a:t>DOI: https://doi.org/10.1007/s44163-023-00079-z  |  Open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6. Literature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A compact comparison of data, target, methods and key lessons.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43000"/>
          <a:ext cx="1120139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5256"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12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Data / Context</a:t>
                      </a:r>
                    </a:p>
                  </a:txBody>
                  <a:tcPr>
                    <a:solidFill>
                      <a:srgbClr val="12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Methods</a:t>
                      </a:r>
                    </a:p>
                  </a:txBody>
                  <a:tcPr>
                    <a:solidFill>
                      <a:srgbClr val="121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lesson</a:t>
                      </a:r>
                    </a:p>
                  </a:txBody>
                  <a:tcPr>
                    <a:solidFill>
                      <a:srgbClr val="121F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Martins et al. (2021)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Higher-education institution, Portugal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3-category outcome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Standard + boosting; oversampling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Early prediction + imbalance matter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Yakubu &amp; Abubakar (2021)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University student information system, Nigeria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Academic performance / CGPA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ML classifier incl. Logistic Regression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Interpretable early indicators are useful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Villar &amp; de Andrade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Higher-education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Dropout / academic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DT, RF, SVM, XGBoost, CatBoost, LightGBM + SMOTE/Optuna/SHAP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Advanced models can be strong but complex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5256">
                <a:tc>
                  <a:txBody>
                    <a:bodyPr/>
                    <a:lstStyle/>
                    <a:p>
                      <a:pPr algn="ctr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Our project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rPr dirty="0"/>
                        <a:t>Synthetic prototype, 1,000 records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At Risk YES / NO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t>StandardScaler + Logistic Regression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60">
                          <a:solidFill>
                            <a:srgbClr val="232A33"/>
                          </a:solidFill>
                          <a:latin typeface="Aptos"/>
                        </a:defRPr>
                      </a:pPr>
                      <a:r>
                        <a:rPr dirty="0"/>
                        <a:t>Simple, interpretable binary baseline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806440"/>
            <a:ext cx="10698480" cy="758952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5806439"/>
            <a:ext cx="64008" cy="758951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925312"/>
            <a:ext cx="103784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70" b="1">
                <a:solidFill>
                  <a:srgbClr val="121F37"/>
                </a:solidFill>
                <a:latin typeface="Aptos"/>
              </a:defRPr>
            </a:pPr>
            <a: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55079"/>
            <a:ext cx="1037844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80" b="0">
                <a:solidFill>
                  <a:srgbClr val="232A33"/>
                </a:solidFill>
                <a:latin typeface="Aptos"/>
              </a:defRPr>
            </a:pPr>
            <a:r>
              <a:t>Existing research supports the value of early student prediction; our prototype intentionally simplifies the task to binary At-Risk / Not-At-Risk classification.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7. Research Gap &amp; Proposed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58952"/>
            <a:ext cx="1097280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50" b="0">
                <a:solidFill>
                  <a:srgbClr val="646E7A"/>
                </a:solidFill>
                <a:latin typeface="Aptos"/>
              </a:defRPr>
            </a:pPr>
            <a:r>
              <a:t>The goal is to position the project accurately—not to claim that the problem is completely new.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42519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What existing work already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3566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t>• Predicts student performance, dropout or academic success</a:t>
            </a:r>
            <a:br/>
            <a:r>
              <a:t>• Uses demographic, academic and socio-economic information</a:t>
            </a:r>
            <a:br/>
            <a:r>
              <a:t>• Explores binary and multi-class targets</a:t>
            </a:r>
            <a:br/>
            <a:r>
              <a:t>• Tests both interpretable models and complex ensembles</a:t>
            </a:r>
            <a:br/>
            <a:r>
              <a:t>• Addresses class imbalance and explainability in different 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64008" cy="425196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61872"/>
            <a:ext cx="50292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How our prototype is framed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5029200" cy="35661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t>• Binary target: At Risk / Not At Risk</a:t>
            </a:r>
            <a:br/>
            <a:r>
              <a:t>• Six easy-to-understand academic indicators</a:t>
            </a:r>
            <a:br/>
            <a:r>
              <a:t>• StandardScaler + Logistic Regression baseline</a:t>
            </a:r>
            <a:br/>
            <a:r>
              <a:t>• Probability-based prediction with a 0.5 baseline threshold</a:t>
            </a:r>
            <a:br/>
            <a:r>
              <a:t>• Designed for early-warning decision support</a:t>
            </a:r>
            <a:br/>
            <a:r>
              <a:t>• Future validation required on real/public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623560"/>
            <a:ext cx="10469880" cy="941832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5623560"/>
            <a:ext cx="64008" cy="941832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742432"/>
            <a:ext cx="1014984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280" b="1">
                <a:solidFill>
                  <a:srgbClr val="121F37"/>
                </a:solidFill>
                <a:latin typeface="Aptos"/>
              </a:defRPr>
            </a:pPr>
            <a:r>
              <a:t>Safe research-gap 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72200"/>
            <a:ext cx="10149840" cy="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20" b="0">
                <a:solidFill>
                  <a:srgbClr val="232A33"/>
                </a:solidFill>
                <a:latin typeface="Aptos"/>
              </a:defRPr>
            </a:pPr>
            <a:r>
              <a:t>“Existing research already explores student performance and dropout prediction. Our contribution is a simpler, interpretable binary-risk prototype focused on six academic indicators.”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8. Review-1 Conclusion &amp; Next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3520440" cy="4343400"/>
          </a:xfrm>
          <a:prstGeom prst="roundRect">
            <a:avLst/>
          </a:prstGeom>
          <a:solidFill>
            <a:srgbClr val="E8EFF8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64008" cy="434340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16152"/>
            <a:ext cx="32004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What we established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19"/>
            <a:ext cx="3200400" cy="3657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t>1. The problem is relevant to early academic support.</a:t>
            </a:r>
            <a:br/>
            <a:br/>
            <a:r>
              <a:t>2. Prior research confirms that ML is used for student outcome prediction.</a:t>
            </a:r>
            <a:br/>
            <a:br/>
            <a:r>
              <a:t>3. Data choice, class balance and interpretability are important.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520440" cy="4343400"/>
          </a:xfrm>
          <a:prstGeom prst="roundRect">
            <a:avLst/>
          </a:prstGeom>
          <a:solidFill>
            <a:srgbClr val="E8F4F4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097280"/>
            <a:ext cx="64008" cy="434340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216152"/>
            <a:ext cx="320040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Project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19"/>
            <a:ext cx="3200400" cy="3657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t>We selected a simple supervised-learning baseline:</a:t>
            </a:r>
            <a:br/>
            <a:br/>
            <a:r>
              <a:t>6 academic features</a:t>
            </a:r>
            <a:br/>
            <a:r>
              <a:t>↓</a:t>
            </a:r>
            <a:br/>
            <a:r>
              <a:t>StandardScaler</a:t>
            </a:r>
            <a:br/>
            <a:r>
              <a:t>↓</a:t>
            </a:r>
            <a:br/>
            <a:r>
              <a:t>Logistic Regression</a:t>
            </a:r>
            <a:br/>
            <a:r>
              <a:t>↓</a:t>
            </a:r>
            <a:br/>
            <a:r>
              <a:t>At Risk / Not At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097280"/>
            <a:ext cx="3429000" cy="4343400"/>
          </a:xfrm>
          <a:prstGeom prst="roundRect">
            <a:avLst/>
          </a:prstGeom>
          <a:solidFill>
            <a:srgbClr val="F9EFE1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097280"/>
            <a:ext cx="64008" cy="434340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216152"/>
            <a:ext cx="31089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Next review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645919"/>
            <a:ext cx="3108960" cy="3657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0">
                <a:solidFill>
                  <a:srgbClr val="232A33"/>
                </a:solidFill>
                <a:latin typeface="Aptos"/>
              </a:defRPr>
            </a:pPr>
            <a:r>
              <a:t>For later PBL reviews:</a:t>
            </a:r>
            <a:br/>
            <a:br/>
            <a:r>
              <a:t>• Dataset and EDA implementation</a:t>
            </a:r>
            <a:br/>
            <a:r>
              <a:t>• Algorithm implementation</a:t>
            </a:r>
            <a:br/>
            <a:r>
              <a:t>• Model evaluation</a:t>
            </a:r>
            <a:br/>
            <a:r>
              <a:t>• Worked prediction example</a:t>
            </a:r>
            <a:br/>
            <a:r>
              <a:t>• Future prototype /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5613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220" b="1">
                <a:solidFill>
                  <a:srgbClr val="121F37"/>
                </a:solidFill>
                <a:latin typeface="Aptos"/>
              </a:defRPr>
            </a:pPr>
            <a:r>
              <a:t>Review 1 establishes the research foundation; Review 3 demonstrates the working ML implementation.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100584"/>
            <a:ext cx="11018520" cy="4206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9. References &amp; Direct Paper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14300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64008" cy="1051560"/>
          </a:xfrm>
          <a:prstGeom prst="rect">
            <a:avLst/>
          </a:prstGeom>
          <a:solidFill>
            <a:srgbClr val="2B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261872"/>
            <a:ext cx="105613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Martins et al. (2021)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691640"/>
            <a:ext cx="1056132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70" b="0">
                <a:solidFill>
                  <a:srgbClr val="232A33"/>
                </a:solidFill>
                <a:latin typeface="Aptos"/>
              </a:defRPr>
            </a:pPr>
            <a:r>
              <a:t>Early Prediction of Student’s Performance in Higher Education: A Case Study</a:t>
            </a:r>
            <a:br/>
            <a:r>
              <a:t>https://doi.org/10.1007/978-3-030-72657-7_16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7744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64008" cy="1051560"/>
          </a:xfrm>
          <a:prstGeom prst="rect">
            <a:avLst/>
          </a:prstGeom>
          <a:solidFill>
            <a:srgbClr val="26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496312"/>
            <a:ext cx="105613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Yakubu &amp; Abubakar (2021)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26080"/>
            <a:ext cx="1056132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70" b="0">
                <a:solidFill>
                  <a:srgbClr val="232A33"/>
                </a:solidFill>
                <a:latin typeface="Aptos"/>
              </a:defRPr>
            </a:pPr>
            <a:r>
              <a:t>Applying Machine Learning Approach to Predict Students’ Performance in Higher Educational Institutions</a:t>
            </a:r>
            <a:br/>
            <a:r>
              <a:t>https://doi.org/10.1108/K-12-2020-0865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11880"/>
            <a:ext cx="10881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611880"/>
            <a:ext cx="64008" cy="1051560"/>
          </a:xfrm>
          <a:prstGeom prst="rect">
            <a:avLst/>
          </a:prstGeom>
          <a:solidFill>
            <a:srgbClr val="D3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3730752"/>
            <a:ext cx="105613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1">
                <a:solidFill>
                  <a:srgbClr val="121F37"/>
                </a:solidFill>
                <a:latin typeface="Aptos"/>
              </a:defRPr>
            </a:pPr>
            <a:r>
              <a:t>Villar &amp; de Andrade (2024)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160520"/>
            <a:ext cx="10561320" cy="3657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70" b="0">
                <a:solidFill>
                  <a:srgbClr val="232A33"/>
                </a:solidFill>
                <a:latin typeface="Aptos"/>
              </a:defRPr>
            </a:pPr>
            <a:r>
              <a:t>Supervised Machine Learning Algorithms for Predicting Student Dropout and Academic Success: A Comparative Study</a:t>
            </a:r>
            <a:br/>
            <a:r>
              <a:t>https://doi.org/10.1007/s44163-023-00079-z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83480"/>
            <a:ext cx="10881360" cy="868680"/>
          </a:xfrm>
          <a:prstGeom prst="roundRect">
            <a:avLst/>
          </a:prstGeom>
          <a:solidFill>
            <a:srgbClr val="F9EAEA"/>
          </a:solidFill>
          <a:ln>
            <a:solidFill>
              <a:srgbClr val="DB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4983480"/>
            <a:ext cx="64008" cy="868680"/>
          </a:xfrm>
          <a:prstGeom prst="rect">
            <a:avLst/>
          </a:prstGeom>
          <a:solidFill>
            <a:srgbClr val="AE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5102352"/>
            <a:ext cx="105613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450" b="1">
                <a:solidFill>
                  <a:srgbClr val="121F37"/>
                </a:solidFill>
                <a:latin typeface="Aptos"/>
              </a:defRPr>
            </a:pPr>
            <a:r>
              <a:t>Project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532120"/>
            <a:ext cx="10561320" cy="1828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0">
                <a:solidFill>
                  <a:srgbClr val="232A33"/>
                </a:solidFill>
                <a:latin typeface="Aptos"/>
              </a:defRPr>
            </a:pPr>
            <a:r>
              <a:t>Project abstract, dataset, EDA report and Review-3 implementation were developed as supporting project documents.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6597396"/>
            <a:ext cx="1138428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850" b="0">
                <a:solidFill>
                  <a:srgbClr val="FFFFFF"/>
                </a:solidFill>
                <a:latin typeface="Aptos"/>
              </a:defRPr>
            </a:pPr>
            <a:r>
              <a:t>PBL Review 1 • Literature Survey • Student Academic Risk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1369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Chandra prakash Verma</cp:lastModifiedBy>
  <cp:revision>2</cp:revision>
  <dcterms:created xsi:type="dcterms:W3CDTF">2013-01-27T09:14:16Z</dcterms:created>
  <dcterms:modified xsi:type="dcterms:W3CDTF">2026-10-06T04:16:05Z</dcterms:modified>
  <cp:category/>
</cp:coreProperties>
</file>