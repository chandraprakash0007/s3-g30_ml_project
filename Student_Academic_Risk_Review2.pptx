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92D4B"/>
                </a:solidFill>
              </a:defRPr>
            </a:pPr>
            <a:r>
              <a:t>STUDENT ACADEMIC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92D4B"/>
                </a:solidFill>
              </a:defRPr>
            </a:pPr>
            <a:r>
              <a:t>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07792"/>
            <a:ext cx="9784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C5C96"/>
                </a:solidFill>
              </a:defRPr>
            </a:pPr>
            <a:r>
              <a:t>Binary Classification: At Risk — YES /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86200"/>
            <a:ext cx="8503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5F6978"/>
                </a:solidFill>
              </a:defRPr>
            </a:pPr>
            <a:r>
              <a:t>Mini Hackathon 1 •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32A34"/>
                </a:solidFill>
              </a:defRPr>
            </a:pPr>
            <a:r>
              <a:t>S. Harshith — 2520030572   |   Chandra Prakash Verma — 2500031353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Educational institutions collect multiple academic indicators such as attendance, marks, assignments, participation and backlogs.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Manually checking all these indicators for many students makes early identification of academic difficulty difficult.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Our system uses Machine Learning to predict whether a student is likely to be academically at risk.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The output is simple: At Risk = YES or At Risk = NO.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The prediction is decision support for timely academic support, not a definitive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C5C96"/>
                </a:solidFill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Use academic indicators to identify students who may need additional academic 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5453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C5C96"/>
                </a:solidFill>
              </a:defRPr>
            </a:pPr>
            <a: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Build a binary classification model that predicts At Risk = YES / 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7" y="15453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C5C96"/>
                </a:solidFill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Use predictions to support timely monitoring, tutoring and academic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Dataset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Synthetic prototype dataset created for demonstration.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36245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80136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1,000 student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7" y="136245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80136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6 academic input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5701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At_Risk: Yes / 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3429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355701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99592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500 Yes and 500 No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5" y="34290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7" y="355701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7" y="3995928"/>
            <a:ext cx="31455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Prototype only; real-world validation is future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Dataset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5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Attendance 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64207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Percentage of classes attended.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225295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Previous Grades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664207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Previous academic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974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25496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Assignment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264408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Performance in assignments.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825496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Internal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64408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Internal assessment marks.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425696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Participation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864608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Classroom participation, 1–10.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425696"/>
            <a:ext cx="4837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Backlog Subjects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864608"/>
            <a:ext cx="483717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Number of backlog subjects.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3657600" cy="2110154"/>
          </a:xfrm>
          <a:prstGeom prst="rect">
            <a:avLst/>
          </a:prstGeom>
        </p:spPr>
      </p:pic>
      <p:pic>
        <p:nvPicPr>
          <p:cNvPr id="7" name="Picture 6" descr="attendanc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960120"/>
            <a:ext cx="3657600" cy="2110154"/>
          </a:xfrm>
          <a:prstGeom prst="rect">
            <a:avLst/>
          </a:prstGeom>
        </p:spPr>
      </p:pic>
      <p:pic>
        <p:nvPicPr>
          <p:cNvPr id="8" name="Picture 7" descr="backlogs_vs_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960120"/>
            <a:ext cx="3657600" cy="2110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605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Target distribution: 500 At Risk and 500 Not At Risk → balanced classes.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Attendance shows a visible difference between the two groups.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Backlog counts are generally higher for the At-Risk group.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Checked for missing values, duplicates and unusual values before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56816"/>
            <a:ext cx="1728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C5C96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95728"/>
            <a:ext cx="17282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6 academic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56032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C5C96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956816"/>
            <a:ext cx="1728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C5C96"/>
                </a:solidFill>
              </a:defRPr>
            </a:pPr>
            <a:r>
              <a:t>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395728"/>
            <a:ext cx="17282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StandardScaler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56032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C5C96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1956816"/>
            <a:ext cx="1728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C5C96"/>
                </a:solidFill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395728"/>
            <a:ext cx="17282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56032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C5C96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1956816"/>
            <a:ext cx="1728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C5C96"/>
                </a:solidFill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395728"/>
            <a:ext cx="17282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At-Risk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56032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C5C96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1" y="1956816"/>
            <a:ext cx="1728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C5C96"/>
                </a:solidFill>
              </a:defRPr>
            </a:pPr>
            <a: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1" y="2395728"/>
            <a:ext cx="17282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≥ 0.5 → YES</a:t>
            </a:r>
            <a:br/>
            <a:r>
              <a:t>&lt; 0.5 →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10149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2A34"/>
                </a:solidFill>
              </a:defRPr>
            </a:pPr>
            <a:r>
              <a:t>Training: 800 records  |  Testing: 200 records  |  Stratified split  |  random_state =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How the Prediction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C5C96"/>
                </a:solidFill>
              </a:defRPr>
            </a:pPr>
            <a:r>
              <a:t>Step 1: Standardize each input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5303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32A34"/>
                </a:solidFill>
              </a:defRPr>
            </a:pPr>
            <a:r>
              <a:t>z = (x − mean) / standard deviation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212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C5C96"/>
                </a:solidFill>
              </a:defRPr>
            </a:pPr>
            <a:r>
              <a:t>Step 2: Form the weighted 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212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32A34"/>
                </a:solidFill>
              </a:defRPr>
            </a:pPr>
            <a:r>
              <a:t>z = b₀ + b₁x₁ + … + b₆x₆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C5C96"/>
                </a:solidFill>
              </a:defRPr>
            </a:pPr>
            <a:r>
              <a:t>Step 3: Convert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5303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232A34"/>
                </a:solidFill>
              </a:defRPr>
            </a:pPr>
            <a:r>
              <a:t>P(At Risk) = 1 / (1 + e⁻ᶻ)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5212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C5C96"/>
                </a:solidFill>
              </a:defRPr>
            </a:pPr>
            <a:r>
              <a:t>Step 4: Apply decision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64408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32A34"/>
                </a:solidFill>
              </a:defRPr>
            </a:pPr>
            <a:r>
              <a:t>P ≥ 0.5 → YES   |   P &lt; 0.5 → 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4617720"/>
            <a:ext cx="8229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4745736"/>
            <a:ext cx="7900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5184648"/>
            <a:ext cx="790041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The model uses only the six academic features. No Risk_Score is used as an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Training &amp; 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167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1.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55648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80% training (800) and 20% testing (200), using stratification.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3167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2.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755648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StandardScaler is fitted on training data, then applied to test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7" y="1316736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3.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755648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Logistic Regression learns coefficients from the scaled training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3785615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4.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4224528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Predictions are generated for the unseen 200 test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785615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5.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224528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Accuracy, Precision, Recall, F1-score and Confusion Matrix.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Model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2185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2185416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32A34"/>
                </a:solidFill>
              </a:defRPr>
            </a:pPr>
            <a:r>
              <a:t>88.50%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453895"/>
            <a:ext cx="2185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892807"/>
            <a:ext cx="2185416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32A34"/>
                </a:solidFill>
              </a:defRPr>
            </a:pPr>
            <a:r>
              <a:t>87.38%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453895"/>
            <a:ext cx="2185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892807"/>
            <a:ext cx="2185416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32A34"/>
                </a:solidFill>
              </a:defRPr>
            </a:pPr>
            <a:r>
              <a:t>90.00%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3258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1" y="1453895"/>
            <a:ext cx="2185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1" y="1892807"/>
            <a:ext cx="2185416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232A34"/>
                </a:solidFill>
              </a:defRPr>
            </a:pPr>
            <a:r>
              <a:t>88.67%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F6978"/>
                </a:solidFill>
              </a:defRPr>
            </a:pPr>
            <a:r>
              <a:t>Prototype results on the synthetic 20% test split; not real-world performance claims.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32A34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32A34"/>
                          </a:solidFill>
                        </a:defRPr>
                      </a:pPr>
                      <a:r>
                        <a:t>Predicted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32A34"/>
                          </a:solidFill>
                        </a:defRPr>
                      </a:pPr>
                      <a:r>
                        <a:t>Predicted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32A34"/>
                          </a:solidFill>
                        </a:defRPr>
                      </a:pPr>
                      <a:r>
                        <a:t>Actual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4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4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32A34"/>
                          </a:solidFill>
                        </a:defRPr>
                      </a:pPr>
                      <a:r>
                        <a:t>Actual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32A34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7960" y="1325880"/>
            <a:ext cx="4754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453895"/>
            <a:ext cx="4425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892807"/>
            <a:ext cx="4425696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TN = 87  |  FP = 13  |  FN = 10  |  TP = 90</a:t>
            </a:r>
            <a:br/>
            <a:br/>
            <a:r>
              <a:t>True Positive: correctly identified At-Risk student.</a:t>
            </a:r>
            <a:br/>
            <a:r>
              <a:t>False Negative: At-Risk student predicted as Not At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C5C96"/>
                </a:solidFill>
              </a:defRPr>
            </a:pPr>
            <a:r>
              <a:t>Recall matters because missing an At-Risk student can delay needed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Prototype Prediction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4114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271016"/>
            <a:ext cx="378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5C96"/>
                </a:solidFill>
              </a:defRPr>
            </a:pPr>
            <a:r>
              <a:t>EXAMPLE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09928"/>
            <a:ext cx="378561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Attendance: 55%</a:t>
            </a:r>
            <a:br/>
            <a:r>
              <a:t>Previous Grades: 45</a:t>
            </a:r>
            <a:br/>
            <a:r>
              <a:t>Assignment: 48</a:t>
            </a:r>
            <a:br/>
            <a:r>
              <a:t>Internal Marks: 42</a:t>
            </a:r>
            <a:br/>
            <a:r>
              <a:t>Participation: 2/10</a:t>
            </a:r>
            <a:br/>
            <a:r>
              <a:t>Backlogs: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143000"/>
            <a:ext cx="2926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1271016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5C96"/>
                </a:solidFill>
              </a:defRPr>
            </a:pPr>
            <a:r>
              <a:t>MODEL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1709928"/>
            <a:ext cx="259689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Standardize the six values → apply learned Logistic Regression coefficients → sigmoid probability.</a:t>
            </a:r>
            <a:br/>
            <a:br/>
            <a:r>
              <a:t>P(At Risk) = 99.99%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143000"/>
            <a:ext cx="2926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271016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2C5C96"/>
                </a:solidFill>
              </a:defRPr>
            </a:pPr>
            <a:r>
              <a:t>SYSTEM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709928"/>
            <a:ext cx="259689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AT RISK = YES</a:t>
            </a:r>
            <a:br/>
            <a:br/>
            <a:r>
              <a:t>Possible support:</a:t>
            </a:r>
            <a:br/>
            <a:r>
              <a:t>• Attendance monitoring</a:t>
            </a:r>
            <a:br/>
            <a:r>
              <a:t>• Learning resources</a:t>
            </a:r>
            <a:br/>
            <a:r>
              <a:t>• Tutoring / faculty follow-up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Research Papers / 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088136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Martins et al. (2021)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27048"/>
            <a:ext cx="337413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Early Prediction of student's Performance in Higher Education: A Case Study.</a:t>
            </a:r>
            <a:br/>
            <a:r>
              <a:t>Focus: early prediction of student outcomes.</a:t>
            </a:r>
            <a:br/>
            <a:r>
              <a:t>Learned: early-warning prediction can support timely academic support.</a:t>
            </a:r>
            <a:br/>
            <a:r>
              <a:t>Limitation: case-study/institution-specific setting; not directly our binary prototype.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96012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088136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Yakubu &amp; Abubakar (2021)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527048"/>
            <a:ext cx="337413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Applying machine learning approach to predict students’ performance in higher educational institutions.</a:t>
            </a:r>
            <a:br/>
            <a:r>
              <a:t>Focus: early indicators such as age, gender, high-school scores, region and CGPA.</a:t>
            </a:r>
            <a:br/>
            <a:r>
              <a:t>Learned: ML can support early identification and remediation.</a:t>
            </a:r>
            <a:br/>
            <a:r>
              <a:t>Limitation: based on a Nigerian university; context-specific variables may not transfer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96012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088136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C5C96"/>
                </a:solidFill>
              </a:defRPr>
            </a:pPr>
            <a:r>
              <a:t>Villar &amp; de Andrade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527048"/>
            <a:ext cx="337413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Supervised ML algorithms for predicting student dropout and academic success: a comparative study.</a:t>
            </a:r>
            <a:br/>
            <a:r>
              <a:t>Focus: DT, SVM, RF and boosting models with imbalance handling.</a:t>
            </a:r>
            <a:br/>
            <a:r>
              <a:t>Learned: boosting models performed strongly on their dataset.</a:t>
            </a:r>
            <a:br/>
            <a:r>
              <a:t>Limitation: single dataset limits generalizability; boosting is less directly interpretable.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Research Gap &amp; Proposed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08176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C5C96"/>
                </a:solidFill>
              </a:defRPr>
            </a:pPr>
            <a:r>
              <a:t>EXISTING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488289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• Many studies predict dropout, academic success or multi-class outcomes.</a:t>
            </a:r>
            <a:br/>
            <a:r>
              <a:t>• Several compare many ML algorithms.</a:t>
            </a:r>
            <a:br/>
            <a:r>
              <a:t>• Early-warning prediction is a common motivation.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08176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C5C96"/>
                </a:solidFill>
              </a:defRPr>
            </a:pPr>
            <a:r>
              <a:t>OUR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47088"/>
            <a:ext cx="488289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• Simple binary target: At Risk / Not At Risk.</a:t>
            </a:r>
            <a:br/>
            <a:r>
              <a:t>• Six easy-to-understand academic indicators.</a:t>
            </a:r>
            <a:br/>
            <a:r>
              <a:t>• Logistic Regression chosen as an interpretable baseline.</a:t>
            </a:r>
            <a:br/>
            <a:r>
              <a:t>• Prediction is connected to practical early academic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14.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3035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5"/>
            <a:ext cx="4974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64207"/>
            <a:ext cx="4974336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• Validate on a suitable real/public student dataset.</a:t>
            </a:r>
            <a:br/>
            <a:r>
              <a:t>• Compare Logistic Regression with Decision Trees and ensemble models.</a:t>
            </a:r>
            <a:br/>
            <a:r>
              <a:t>• Tune probability threshold and study calibration.</a:t>
            </a:r>
            <a:br/>
            <a:r>
              <a:t>• Add explainability/feature analysis.</a:t>
            </a:r>
            <a:br/>
            <a:r>
              <a:t>• Build a dashboard or FastAPI service.</a:t>
            </a:r>
            <a:br/>
            <a:r>
              <a:t>• Add monitoring and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097280"/>
            <a:ext cx="53035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225295"/>
            <a:ext cx="4974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C5C96"/>
                </a:solidFill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664207"/>
            <a:ext cx="4974336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• The project is a binary supervised-learning problem.</a:t>
            </a:r>
            <a:br/>
            <a:r>
              <a:t>• Six academic features are model inputs.</a:t>
            </a:r>
            <a:br/>
            <a:r>
              <a:t>• Logistic Regression converts them into an At-Risk probability.</a:t>
            </a:r>
            <a:br/>
            <a:r>
              <a:t>• A 0.5 threshold gives the YES/NO output.</a:t>
            </a:r>
            <a:br/>
            <a:r>
              <a:t>• The prototype demonstrates an early-warning decision-support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4630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Mini Hackathon 1 • Student Academic Risk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Martins, M.V., Tolledo, D., Machado, J., Baptista, L.M.T., &amp; Realinho, V. (2021). Early Prediction of student's Performance in Higher Education: A Case Study. WorldCIST 2021. DOI: 10.1007/978-3-030-72657-7_16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Yakubu, M.N. &amp; Abubakar, A.M. (2021). Applying machine learning approach to predict students’ performance in higher educational institutions. Kybernetes, 51(2), 916–934. DOI: 10.1108/K-12-2020-0865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Villar, A. &amp; de Andrade, C.R.V. (2024). Supervised machine learning algorithms for predicting student dropout and academic success: a comparative study. Discover Artificial Intelligence, 4, 2. DOI: 10.1007/s44163-023-00079-z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Project dataset: student_academic_risk_realistic_binary_prototype.csv (synthetic prototype created for demonstration).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Implementation: Python, Pandas, Scikit-learn, StandardScaler and LogisticRegression.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